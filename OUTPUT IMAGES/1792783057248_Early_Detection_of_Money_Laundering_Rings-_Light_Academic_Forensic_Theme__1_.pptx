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29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5206" y="285750"/>
            <a:ext cx="1493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INITIALIZATION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323380" y="1826679"/>
            <a:ext cx="6497241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Detection of Money Laundering Rings using Temporal Transaction Network Analytics and Explainable Risk Scoring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777" y="1952365"/>
            <a:ext cx="700444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Temporal, Pattern-Aware and Explainable Forensic Analytics Framework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5781" y="2916771"/>
            <a:ext cx="33004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kern="0" spc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RESEARCH CANDIDATE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35781" y="3123940"/>
            <a:ext cx="33004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M.Tech Integrated CSE — Business Analytics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179094" y="2916771"/>
            <a:ext cx="20431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kern="0" spc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THEME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179094" y="3123940"/>
            <a:ext cx="20431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Temporal Network Analytics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65106" y="2916771"/>
            <a:ext cx="20431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kern="0" spc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 STATUS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565106" y="3123940"/>
            <a:ext cx="20431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WORKING RESEARCH PROTOTYPE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5750" y="4707731"/>
            <a:ext cx="2489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A7B5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[REAL-DATA AML FORENSIC ANALYTICS SYSTEM]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9483" y="142875"/>
            <a:ext cx="141306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[ANALYSIS_MODE]</a:t>
            </a:r>
            <a:endParaRPr lang="en-US" sz="650" dirty="0"/>
          </a:p>
        </p:txBody>
      </p:sp>
      <p:sp>
        <p:nvSpPr>
          <p:cNvPr id="4" name="Shape 1"/>
          <p:cNvSpPr/>
          <p:nvPr/>
        </p:nvSpPr>
        <p:spPr>
          <a:xfrm>
            <a:off x="171450" y="171450"/>
            <a:ext cx="8801100" cy="19857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71450" y="362880"/>
            <a:ext cx="880110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71450" y="171450"/>
            <a:ext cx="880110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Problem, Research Question &amp; Novelty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1450" y="491468"/>
            <a:ext cx="4027066" cy="4480582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00038" y="620055"/>
            <a:ext cx="3769891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Gaps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8" y="768623"/>
            <a:ext cx="128588" cy="1071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350" y="740048"/>
            <a:ext cx="34254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transaction analysis misses temporal evolution of money flow.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8" y="1015082"/>
            <a:ext cx="128588" cy="1071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4350" y="986507"/>
            <a:ext cx="355557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Single-pattern detection can miss combinations of suspicious behaviours.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8" y="1422276"/>
            <a:ext cx="128588" cy="1071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4350" y="1393701"/>
            <a:ext cx="345400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Black-box risk scores provide limited investigator-readable evidence.</a:t>
            </a:r>
            <a:endParaRPr lang="en-US" sz="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8" y="1668735"/>
            <a:ext cx="128588" cy="1071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4350" y="1640160"/>
            <a:ext cx="355557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systems may identify suspicious rings only after multiple laundering behaviours become visible.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300038" y="4350544"/>
            <a:ext cx="3769891" cy="492919"/>
          </a:xfrm>
          <a:prstGeom prst="rect">
            <a:avLst/>
          </a:prstGeom>
          <a:solidFill>
            <a:srgbClr val="F6F8FB"/>
          </a:solidFill>
          <a:ln w="9144">
            <a:solidFill>
              <a:srgbClr val="08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1"/>
          <p:cNvSpPr/>
          <p:nvPr/>
        </p:nvSpPr>
        <p:spPr>
          <a:xfrm>
            <a:off x="300038" y="4350544"/>
            <a:ext cx="3769891" cy="492919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i="1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"Can temporal transaction networks identify the formation of suspicious rings early and explain why they are risky?"</a:t>
            </a:r>
            <a:endParaRPr lang="en-US" sz="800" dirty="0"/>
          </a:p>
        </p:txBody>
      </p:sp>
      <p:sp>
        <p:nvSpPr>
          <p:cNvPr id="19" name="Shape 12"/>
          <p:cNvSpPr/>
          <p:nvPr/>
        </p:nvSpPr>
        <p:spPr>
          <a:xfrm>
            <a:off x="4341391" y="491468"/>
            <a:ext cx="4631103" cy="4480582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4469978" y="620055"/>
            <a:ext cx="4373928" cy="119993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Novelty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4469978" y="740048"/>
            <a:ext cx="43739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TEMPORAL GRAPH ARCHITECTURE</a:t>
            </a:r>
            <a:endParaRPr lang="en-US" sz="650" dirty="0"/>
          </a:p>
        </p:txBody>
      </p:sp>
      <p:sp>
        <p:nvSpPr>
          <p:cNvPr id="22" name="Text 15"/>
          <p:cNvSpPr/>
          <p:nvPr/>
        </p:nvSpPr>
        <p:spPr>
          <a:xfrm>
            <a:off x="4469978" y="922213"/>
            <a:ext cx="4373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financial systems as directed temporal graphs (Nodes: Accounts, Edges: Transactions).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4469978" y="1307976"/>
            <a:ext cx="43739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PATTERN TRAJECTORY ENGINE</a:t>
            </a:r>
            <a:endParaRPr lang="en-US" sz="650" dirty="0"/>
          </a:p>
        </p:txBody>
      </p:sp>
      <p:sp>
        <p:nvSpPr>
          <p:cNvPr id="24" name="Text 17"/>
          <p:cNvSpPr/>
          <p:nvPr/>
        </p:nvSpPr>
        <p:spPr>
          <a:xfrm>
            <a:off x="4469978" y="1490142"/>
            <a:ext cx="4373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suspicious-pattern evolution across temporal windows and combining complementary behavioural signals into bounded trajectories.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4469978" y="1875904"/>
            <a:ext cx="43739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EXPLAINABLE RISK SCORING</a:t>
            </a:r>
            <a:endParaRPr lang="en-US" sz="650" dirty="0"/>
          </a:p>
        </p:txBody>
      </p:sp>
      <p:sp>
        <p:nvSpPr>
          <p:cNvPr id="26" name="Text 19"/>
          <p:cNvSpPr/>
          <p:nvPr/>
        </p:nvSpPr>
        <p:spPr>
          <a:xfrm>
            <a:off x="4469978" y="2058070"/>
            <a:ext cx="4373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Multi-component risk (Behavioural, Network, Fund Flow, Persistence) with forensic evidence.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4469978" y="2443832"/>
            <a:ext cx="43739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LEAD-TIME MEASUREMENT</a:t>
            </a:r>
            <a:endParaRPr lang="en-US" sz="650" dirty="0"/>
          </a:p>
        </p:txBody>
      </p:sp>
      <p:sp>
        <p:nvSpPr>
          <p:cNvPr id="28" name="Text 21"/>
          <p:cNvSpPr/>
          <p:nvPr/>
        </p:nvSpPr>
        <p:spPr>
          <a:xfrm>
            <a:off x="4469978" y="2625998"/>
            <a:ext cx="4373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Quantifying early-warning performance using temporal lead-time metrics vs ground truth.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4469978" y="3161779"/>
            <a:ext cx="4373928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RESEARCH CONTRIBUTION</a:t>
            </a:r>
            <a:endParaRPr lang="en-US" sz="650" dirty="0"/>
          </a:p>
        </p:txBody>
      </p:sp>
      <p:sp>
        <p:nvSpPr>
          <p:cNvPr id="30" name="Text 23"/>
          <p:cNvSpPr/>
          <p:nvPr/>
        </p:nvSpPr>
        <p:spPr>
          <a:xfrm>
            <a:off x="4469978" y="3329992"/>
            <a:ext cx="4373928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integrated formation-stage AML framework that combines temporal transaction-pattern trajectories, explainable multi-factor risk scoring, forensic evidence generation and explicit lead-time evaluation.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171450" y="4929188"/>
            <a:ext cx="20609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| Source: Project Objective &amp; Research Gap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6650" y="128588"/>
            <a:ext cx="1485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[DATASET_EXPLORER]</a:t>
            </a:r>
            <a:endParaRPr lang="en-US" sz="650" dirty="0"/>
          </a:p>
        </p:txBody>
      </p:sp>
      <p:sp>
        <p:nvSpPr>
          <p:cNvPr id="4" name="Shape 1"/>
          <p:cNvSpPr/>
          <p:nvPr/>
        </p:nvSpPr>
        <p:spPr>
          <a:xfrm>
            <a:off x="171450" y="171450"/>
            <a:ext cx="8801100" cy="2643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71450" y="428625"/>
            <a:ext cx="880110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71450" y="171450"/>
            <a:ext cx="88011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AMLSim Dataset &amp; Data Quality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1450" y="571500"/>
            <a:ext cx="1691618" cy="532209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1463" y="671513"/>
            <a:ext cx="149159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87EA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197,905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1463" y="871538"/>
            <a:ext cx="149159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0" kern="0" spc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TRANSACTIONS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1948793" y="571500"/>
            <a:ext cx="1691618" cy="532209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048805" y="671513"/>
            <a:ext cx="149159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87EA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12,043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48805" y="871538"/>
            <a:ext cx="149159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0" kern="0" spc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ACCOUNTS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3726135" y="571500"/>
            <a:ext cx="1691673" cy="532209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826148" y="671513"/>
            <a:ext cx="149164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87EA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720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826148" y="871538"/>
            <a:ext cx="14916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0" kern="0" spc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TIME WINDOWS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5503534" y="571500"/>
            <a:ext cx="1691618" cy="532209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241139" y="671513"/>
            <a:ext cx="216406" cy="138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87EA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03546" y="871538"/>
            <a:ext cx="149159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0" kern="0" spc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AML ALERTS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7280877" y="571500"/>
            <a:ext cx="1691673" cy="532209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380889" y="671513"/>
            <a:ext cx="149164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87EA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671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80889" y="871538"/>
            <a:ext cx="14916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0" kern="0" spc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ALERT TXS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171450" y="1232297"/>
            <a:ext cx="4321969" cy="3739753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14325" y="1375172"/>
            <a:ext cx="4036219" cy="17145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 Truth Distribution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14325" y="1603772"/>
            <a:ext cx="1288331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Alert Category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1602656" y="1603772"/>
            <a:ext cx="563631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Count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2166286" y="1603772"/>
            <a:ext cx="2184257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Description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314325" y="1889522"/>
            <a:ext cx="1288331" cy="30003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602656" y="1889522"/>
            <a:ext cx="563631" cy="30003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166286" y="1889522"/>
            <a:ext cx="2184257" cy="30003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Circular flow of funds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14325" y="2189559"/>
            <a:ext cx="1288331" cy="30003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Fan-in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602656" y="2189559"/>
            <a:ext cx="563631" cy="30003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2166286" y="2189559"/>
            <a:ext cx="2184257" cy="30003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Consolidation to one account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14325" y="2489597"/>
            <a:ext cx="1288331" cy="30003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Fan-out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602656" y="2489597"/>
            <a:ext cx="563631" cy="30003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166286" y="2489597"/>
            <a:ext cx="2184257" cy="30003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Dispersal to multiple accounts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650581" y="1239441"/>
            <a:ext cx="4321969" cy="3739753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793456" y="1375172"/>
            <a:ext cx="4036219" cy="17145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Pipeline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793456" y="1546622"/>
            <a:ext cx="200025" cy="200025"/>
          </a:xfrm>
          <a:prstGeom prst="ellipse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793456" y="154662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5079206" y="1571625"/>
            <a:ext cx="170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Parsing &amp; Normalization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4793456" y="1818084"/>
            <a:ext cx="200025" cy="200025"/>
          </a:xfrm>
          <a:prstGeom prst="ellipse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4793456" y="181808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5079206" y="1843088"/>
            <a:ext cx="16644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Sender/Receiver Identity Validation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4793456" y="2089547"/>
            <a:ext cx="200025" cy="200025"/>
          </a:xfrm>
          <a:prstGeom prst="ellipse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4793456" y="208954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5079206" y="2114550"/>
            <a:ext cx="17502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 Cleaning &amp; Self-Tx Detection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4793456" y="2361009"/>
            <a:ext cx="200025" cy="200025"/>
          </a:xfrm>
          <a:prstGeom prst="ellipse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4793456" y="23610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5079206" y="2386013"/>
            <a:ext cx="11108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Chronological Ordering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4793456" y="2732484"/>
            <a:ext cx="4036219" cy="692944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4793456" y="2732484"/>
            <a:ext cx="4036219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8822531" y="2732484"/>
            <a:ext cx="7144" cy="6929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0"/>
          <p:cNvSpPr/>
          <p:nvPr/>
        </p:nvSpPr>
        <p:spPr>
          <a:xfrm>
            <a:off x="4793456" y="3418284"/>
            <a:ext cx="4036219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4793456" y="2732484"/>
            <a:ext cx="28575" cy="6929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4879181" y="2818209"/>
            <a:ext cx="38647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Integrity Verification: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4879181" y="2977158"/>
            <a:ext cx="161091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In: 197,905 | Rows Out: 197,905</a:t>
            </a:r>
            <a:endParaRPr lang="en-US" sz="650" dirty="0"/>
          </a:p>
        </p:txBody>
      </p:sp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181" y="3100388"/>
            <a:ext cx="92869" cy="92869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5022056" y="3078956"/>
            <a:ext cx="362902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197,905 / 197,905 rows retained after preprocessing; no transaction rows were removed.</a:t>
            </a:r>
            <a:endParaRPr lang="en-US" sz="650" dirty="0"/>
          </a:p>
        </p:txBody>
      </p:sp>
      <p:sp>
        <p:nvSpPr>
          <p:cNvPr id="59" name="Shape 55"/>
          <p:cNvSpPr/>
          <p:nvPr/>
        </p:nvSpPr>
        <p:spPr>
          <a:xfrm>
            <a:off x="4793456" y="3496866"/>
            <a:ext cx="4036219" cy="374266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4793456" y="3496866"/>
            <a:ext cx="28575" cy="374266"/>
          </a:xfrm>
          <a:prstGeom prst="rect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4793456" y="3496866"/>
            <a:ext cx="4036219" cy="37426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AMLSim ground truth:</a:t>
            </a:r>
            <a:r>
              <a:rPr lang="en-US" sz="6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synthetic banking transactions with known AML typology alerts used for evaluation.</a:t>
            </a:r>
            <a:endParaRPr lang="en-US" sz="600" dirty="0"/>
          </a:p>
        </p:txBody>
      </p:sp>
      <p:sp>
        <p:nvSpPr>
          <p:cNvPr id="62" name="Text 58"/>
          <p:cNvSpPr/>
          <p:nvPr/>
        </p:nvSpPr>
        <p:spPr>
          <a:xfrm>
            <a:off x="171450" y="4875609"/>
            <a:ext cx="28896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| Dataset: IBM AMLSim (Anti-Money Laundering Simulator)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2355" y="200025"/>
            <a:ext cx="13516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[GRAPH_ENGINE]</a:t>
            </a:r>
            <a:endParaRPr lang="en-US" sz="650" dirty="0"/>
          </a:p>
        </p:txBody>
      </p:sp>
      <p:sp>
        <p:nvSpPr>
          <p:cNvPr id="4" name="Shape 1"/>
          <p:cNvSpPr/>
          <p:nvPr/>
        </p:nvSpPr>
        <p:spPr>
          <a:xfrm>
            <a:off x="200025" y="200025"/>
            <a:ext cx="8743950" cy="2128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00025" y="405743"/>
            <a:ext cx="874395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00025" y="200025"/>
            <a:ext cx="87439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Transaction Network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00025" y="548618"/>
            <a:ext cx="3559932" cy="4394857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42900" y="691493"/>
            <a:ext cx="3274182" cy="17145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Definition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42900" y="862943"/>
            <a:ext cx="32741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2B3A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Nodes (V): </a:t>
            </a:r>
            <a:r>
              <a:rPr lang="en-US" sz="750" b="1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Accounts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2900" y="1077255"/>
            <a:ext cx="32741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2B3A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Edges (E): </a:t>
            </a:r>
            <a:r>
              <a:rPr lang="en-US" sz="750" b="1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42900" y="1291568"/>
            <a:ext cx="32741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2B3A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Weight (W): </a:t>
            </a:r>
            <a:r>
              <a:rPr lang="en-US" sz="750" b="1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Amount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42900" y="1505880"/>
            <a:ext cx="32741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2B3A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Time (T): </a:t>
            </a:r>
            <a:r>
              <a:rPr lang="en-US" sz="750" b="1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720 one-day temporal windows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42900" y="1763055"/>
            <a:ext cx="3274182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temporal window is a fixed time interval in which transactions are grouped and analyzed as a graph snapshot.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42900" y="2374516"/>
            <a:ext cx="3274182" cy="678656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Temporal Significance:</a:t>
            </a:r>
            <a:r>
              <a:rPr lang="en-US" sz="65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G(t1) ≠ G(t2). Modeling money laundering as a temporal process rather than a static event enables detection of changing connectivity, velocity, and pattern persistence.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3959982" y="548618"/>
            <a:ext cx="4983938" cy="4394857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102857" y="691493"/>
            <a:ext cx="4698188" cy="17145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Temporal Graph Evolution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02857" y="862943"/>
            <a:ext cx="2291916" cy="1414463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174294" y="920093"/>
            <a:ext cx="4643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WINDOW 001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188582" y="2048805"/>
            <a:ext cx="21204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transaction activity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6509072" y="862943"/>
            <a:ext cx="2291972" cy="1414463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580510" y="920093"/>
            <a:ext cx="4643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WINDOW 015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6594797" y="2048805"/>
            <a:ext cx="21205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transaction velocity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4102857" y="2377418"/>
            <a:ext cx="2291916" cy="1414463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174294" y="2434568"/>
            <a:ext cx="4643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WINDOW 032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4188582" y="3563280"/>
            <a:ext cx="21204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Emerging structural pattern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6509072" y="2377418"/>
            <a:ext cx="2291972" cy="1414463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580510" y="2434568"/>
            <a:ext cx="4643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WINDOW 050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594797" y="3563280"/>
            <a:ext cx="21205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complex suspicious connectivity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00025" y="4875609"/>
            <a:ext cx="245387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| Framework: Temporal Graph Evolution Analysis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3744" y="285750"/>
            <a:ext cx="17645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[FEATURE_MODELING]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285750" y="285750"/>
            <a:ext cx="8572500" cy="3214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85750" y="600075"/>
            <a:ext cx="857250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85750" y="2857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 &amp; Forecasting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85750" y="885825"/>
            <a:ext cx="2714625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057275"/>
            <a:ext cx="2371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Feature Taxonomy (53 Total)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314450"/>
            <a:ext cx="2371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5B6B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GRAPH FEATURES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57200" y="1469436"/>
            <a:ext cx="21931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PageRank, Betweenness Centrality, Clustering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57200" y="1629445"/>
            <a:ext cx="21431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Coefficient, In/Out Degree, Weighted Degree,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57200" y="1789454"/>
            <a:ext cx="7536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Neighbor Count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57200" y="2017328"/>
            <a:ext cx="2371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5B6B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TRANSACTION FLOW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57200" y="2172314"/>
            <a:ext cx="22145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Count, Total / Mean / Median / Std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7200" y="2332323"/>
            <a:ext cx="19323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Amount, Unique Counterparties, Amount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57200" y="2492332"/>
            <a:ext cx="1571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Concentration, Log Total Amount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57200" y="2720206"/>
            <a:ext cx="2371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5B6B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TEMPORAL ANALYTICS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57200" y="2875192"/>
            <a:ext cx="19395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Velocity, Burstiness, Activity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57200" y="3035201"/>
            <a:ext cx="23145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Acceleration, Activity Persistence, Activity Trend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57200" y="3195210"/>
            <a:ext cx="2678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Slope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57200" y="3423084"/>
            <a:ext cx="2371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5B6B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DELTA (TEMPORAL SHIFT)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57200" y="3578070"/>
            <a:ext cx="20966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 Transaction Velocity, Δ Neighbor Count, Δ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57200" y="3738079"/>
            <a:ext cx="22467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Connectivity, Δ Degree, Δ Transaction Count, Δ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57200" y="3898088"/>
            <a:ext cx="96083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Amount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214688" y="885825"/>
            <a:ext cx="2714625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386138" y="1057275"/>
            <a:ext cx="2371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Chronological Split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386138" y="1285875"/>
            <a:ext cx="8036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(w0–431)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968478" y="1285875"/>
            <a:ext cx="7893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1,426,147 rows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6138" y="1578769"/>
            <a:ext cx="4822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3550" y="1578769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386138" y="1871663"/>
            <a:ext cx="8501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 (w432–575)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047059" y="1871663"/>
            <a:ext cx="7108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613,567 rows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386138" y="2164556"/>
            <a:ext cx="4822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Positives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618559" y="2164556"/>
            <a:ext cx="1393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386138" y="2457450"/>
            <a:ext cx="8858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(w576–719)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18484" y="2457450"/>
            <a:ext cx="7393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653,487 rows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86138" y="2750344"/>
            <a:ext cx="4822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Positives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614988" y="2750344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386138" y="3157538"/>
            <a:ext cx="2371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Forecast Horizon:</a:t>
            </a: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 Windows
</a:t>
            </a:r>
            <a:r>
              <a:rPr lang="en-US" sz="8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Observations:</a:t>
            </a: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2,693,201 total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143625" y="885825"/>
            <a:ext cx="2714625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6315075" y="1057275"/>
            <a:ext cx="2371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Imbalance Challenge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315075" y="1228725"/>
            <a:ext cx="23717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Test Rate:
</a:t>
            </a:r>
            <a:r>
              <a:rPr lang="en-US" sz="14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0.0049%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315075" y="3543300"/>
            <a:ext cx="2371725" cy="114300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6315075" y="3543300"/>
            <a:ext cx="2371725" cy="714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8679656" y="3543300"/>
            <a:ext cx="7144" cy="1143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6315075" y="4679156"/>
            <a:ext cx="2371725" cy="714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6315075" y="3543300"/>
            <a:ext cx="28575" cy="1143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6315075" y="3543300"/>
            <a:ext cx="2371725" cy="114300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EXTREME CLASS IMBALANCE:</a:t>
            </a: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Only 32 positive observations occur in the held-out test set. Therefore, ROC-AUC alone is insufficient; PR-AUC, precision, recall and investigator-oriented ranking metrics must also be considered.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85750" y="4707731"/>
            <a:ext cx="2978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| Methodology: Account-Window Temporal Forecasting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3744" y="285750"/>
            <a:ext cx="17645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[MODEL_EVALUATION]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285750" y="285750"/>
            <a:ext cx="8572500" cy="3214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85750" y="600075"/>
            <a:ext cx="857250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85750" y="2857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Comparison &amp; Feature Importance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85750" y="885825"/>
            <a:ext cx="4833919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057275"/>
            <a:ext cx="44910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Performance Metrics (Test Set)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28725"/>
            <a:ext cx="1256574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Model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713774" y="1228725"/>
            <a:ext cx="818517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Precision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532292" y="1228725"/>
            <a:ext cx="592875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Recall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125167" y="1228725"/>
            <a:ext cx="561901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687068" y="1228725"/>
            <a:ext cx="668108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ROC-AUC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355176" y="1228725"/>
            <a:ext cx="593043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PR-AUC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" y="1496616"/>
            <a:ext cx="1256574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Forest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713774" y="1496616"/>
            <a:ext cx="818517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0.0001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532292" y="1496616"/>
            <a:ext cx="592875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0.1875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125167" y="1496616"/>
            <a:ext cx="561901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0.0002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687068" y="1496616"/>
            <a:ext cx="668108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0.6603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355176" y="1496616"/>
            <a:ext cx="593043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0.0001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57200" y="1768078"/>
            <a:ext cx="1256574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713774" y="1768078"/>
            <a:ext cx="818517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0.0007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532292" y="1768078"/>
            <a:ext cx="592875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1.0000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125167" y="1768078"/>
            <a:ext cx="561901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0.0014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687068" y="1768078"/>
            <a:ext cx="668108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0.9634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355176" y="1768078"/>
            <a:ext cx="593043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0.0006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57200" y="2039541"/>
            <a:ext cx="1256574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713774" y="2039541"/>
            <a:ext cx="818517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0.0007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532292" y="2039541"/>
            <a:ext cx="592875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0.6250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125167" y="2039541"/>
            <a:ext cx="561901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0.0015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687068" y="2039541"/>
            <a:ext cx="668108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0.9731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355176" y="2039541"/>
            <a:ext cx="593043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0.0155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457200" y="2311003"/>
            <a:ext cx="4491019" cy="271463"/>
          </a:xfrm>
          <a:prstGeom prst="rect">
            <a:avLst/>
          </a:prstGeom>
          <a:solidFill>
            <a:srgbClr val="087EA4">
              <a:alpha val="9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57200" y="2311003"/>
            <a:ext cx="1256574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Proposed XGBoost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713774" y="2311003"/>
            <a:ext cx="818517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0.2941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2532292" y="2311003"/>
            <a:ext cx="592875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0.1563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3125167" y="2311003"/>
            <a:ext cx="561901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0.2041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3687068" y="2311003"/>
            <a:ext cx="668108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0.9750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355176" y="2311003"/>
            <a:ext cx="593043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0.0778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57200" y="4407694"/>
            <a:ext cx="449101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Held-out Test Set: 653,487 observations / 32 positives.
Investigator ranking: Precision@10 40% | Precision@20 25% | Precision@50 14%.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5405419" y="885825"/>
            <a:ext cx="3452775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576869" y="1057275"/>
            <a:ext cx="3109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XGBoost Feature Importance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576869" y="1228725"/>
            <a:ext cx="1143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total_count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7863873" y="1234083"/>
            <a:ext cx="3000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0.3403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5576869" y="1453753"/>
            <a:ext cx="1143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transaction_velocity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7491617" y="1459111"/>
            <a:ext cx="3000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0.2206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5576869" y="1678781"/>
            <a:ext cx="1143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unique_counterparties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7313414" y="1684139"/>
            <a:ext cx="3000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0.1633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5576869" y="1903809"/>
            <a:ext cx="1143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log_total_amount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6971295" y="1909167"/>
            <a:ext cx="3000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0.0533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5576869" y="2128838"/>
            <a:ext cx="1143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total_amount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6932451" y="2134195"/>
            <a:ext cx="3000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0.0408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5576869" y="2353866"/>
            <a:ext cx="1143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 tx_velocity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6856549" y="2359223"/>
            <a:ext cx="3000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0.0164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5576869" y="2578894"/>
            <a:ext cx="1143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 total_count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6841034" y="2584252"/>
            <a:ext cx="3000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0.0114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5576869" y="2803922"/>
            <a:ext cx="1143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delta_connectivity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6829537" y="2809280"/>
            <a:ext cx="3000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0.0077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5576869" y="3850481"/>
            <a:ext cx="3109875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predictors are transaction volume, transaction velocity and counterparty connectivity.
Interpretation: The model is useful for ranking account-window observations, but ring-level reconstruction remains a separate forensic task.</a:t>
            </a:r>
            <a:endParaRPr lang="en-US" sz="650" dirty="0"/>
          </a:p>
        </p:txBody>
      </p:sp>
      <p:sp>
        <p:nvSpPr>
          <p:cNvPr id="60" name="Text 57"/>
          <p:cNvSpPr/>
          <p:nvPr/>
        </p:nvSpPr>
        <p:spPr>
          <a:xfrm>
            <a:off x="285750" y="4707731"/>
            <a:ext cx="26646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| Results: Validated Forensic Forecasting Metrics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9475" y="285750"/>
            <a:ext cx="16287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[PATTERN_ENGINE]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285750" y="285750"/>
            <a:ext cx="8572500" cy="3214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85750" y="600075"/>
            <a:ext cx="857250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85750" y="2857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AML Pattern Engine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85750" y="885825"/>
            <a:ext cx="4143375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057275"/>
            <a:ext cx="38004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Suspicious Pattern Detectors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28725"/>
            <a:ext cx="1843088" cy="33575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" y="1228725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293144" y="1228725"/>
            <a:ext cx="7144" cy="335756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7200" y="1557338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7200" y="1228725"/>
            <a:ext cx="21431" cy="335756"/>
          </a:xfrm>
          <a:prstGeom prst="rect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57200" y="1228725"/>
            <a:ext cx="1843088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Fan-in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414588" y="1228725"/>
            <a:ext cx="1843088" cy="33575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414588" y="1228725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250531" y="1228725"/>
            <a:ext cx="7144" cy="335756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414588" y="1557338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2414588" y="1228725"/>
            <a:ext cx="21431" cy="335756"/>
          </a:xfrm>
          <a:prstGeom prst="rect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414588" y="1228725"/>
            <a:ext cx="1843088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Fan-out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57200" y="1664494"/>
            <a:ext cx="1843088" cy="33575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57200" y="1664494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293144" y="1664494"/>
            <a:ext cx="7144" cy="335756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57200" y="1993106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57200" y="1664494"/>
            <a:ext cx="21431" cy="335756"/>
          </a:xfrm>
          <a:prstGeom prst="rect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57200" y="1664494"/>
            <a:ext cx="1843088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Layering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2414588" y="1664494"/>
            <a:ext cx="1843088" cy="33575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4588" y="1664494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250531" y="1664494"/>
            <a:ext cx="7144" cy="335756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2414588" y="1993106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414588" y="1664494"/>
            <a:ext cx="21431" cy="335756"/>
          </a:xfrm>
          <a:prstGeom prst="rect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414588" y="1664494"/>
            <a:ext cx="1843088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Split-merge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457200" y="2100263"/>
            <a:ext cx="1843088" cy="33575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457200" y="2100263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2293144" y="2100263"/>
            <a:ext cx="7144" cy="335756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457200" y="2428875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457200" y="2100263"/>
            <a:ext cx="21431" cy="335756"/>
          </a:xfrm>
          <a:prstGeom prst="rect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457200" y="2100263"/>
            <a:ext cx="1843088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pass-through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414588" y="2100263"/>
            <a:ext cx="1843088" cy="33575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2414588" y="2100263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4250531" y="2100263"/>
            <a:ext cx="7144" cy="335756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2414588" y="2428875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2414588" y="2100263"/>
            <a:ext cx="21431" cy="335756"/>
          </a:xfrm>
          <a:prstGeom prst="rect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2414588" y="2100263"/>
            <a:ext cx="1843088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intermediary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57200" y="2536031"/>
            <a:ext cx="1843088" cy="33575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457200" y="2536031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293144" y="2536031"/>
            <a:ext cx="7144" cy="335756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457200" y="2864644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457200" y="2536031"/>
            <a:ext cx="21431" cy="335756"/>
          </a:xfrm>
          <a:prstGeom prst="rect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457200" y="2536031"/>
            <a:ext cx="1843088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Circular flow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2414588" y="2536031"/>
            <a:ext cx="1843088" cy="33575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2414588" y="2536031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0"/>
          <p:cNvSpPr/>
          <p:nvPr/>
        </p:nvSpPr>
        <p:spPr>
          <a:xfrm>
            <a:off x="4250531" y="2536031"/>
            <a:ext cx="7144" cy="335756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2414588" y="2864644"/>
            <a:ext cx="1843088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2414588" y="2536031"/>
            <a:ext cx="21431" cy="335756"/>
          </a:xfrm>
          <a:prstGeom prst="rect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2414588" y="2536031"/>
            <a:ext cx="1843088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Escalating connectivity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457200" y="3086100"/>
            <a:ext cx="38004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Detected Events: 39,869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457200" y="4314825"/>
            <a:ext cx="3800475" cy="37147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[Illustrative Network Topological Signal]</a:t>
            </a:r>
            <a:endParaRPr lang="en-US" sz="600" dirty="0"/>
          </a:p>
        </p:txBody>
      </p:sp>
      <p:sp>
        <p:nvSpPr>
          <p:cNvPr id="59" name="Shape 56"/>
          <p:cNvSpPr/>
          <p:nvPr/>
        </p:nvSpPr>
        <p:spPr>
          <a:xfrm>
            <a:off x="4714875" y="885825"/>
            <a:ext cx="4143375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4886325" y="1057275"/>
            <a:ext cx="38004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Generated Event Distribution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4886325" y="1285875"/>
            <a:ext cx="942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pass-through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8372475" y="1285875"/>
            <a:ext cx="3143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27,668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4886325" y="1557338"/>
            <a:ext cx="3071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Fan-in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8401050" y="1557338"/>
            <a:ext cx="285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10,891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4886325" y="1828800"/>
            <a:ext cx="6036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Circular flow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8504634" y="1828800"/>
            <a:ext cx="1821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933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4886325" y="2100263"/>
            <a:ext cx="10751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intermediary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8504634" y="2100263"/>
            <a:ext cx="1821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233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4886325" y="2371725"/>
            <a:ext cx="4107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Layering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8522494" y="2371725"/>
            <a:ext cx="1643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4886325" y="2643188"/>
            <a:ext cx="553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Split-merge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8583216" y="2643188"/>
            <a:ext cx="1035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886325" y="2914650"/>
            <a:ext cx="3750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Fan-out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8622506" y="2914650"/>
            <a:ext cx="642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4886325" y="3186113"/>
            <a:ext cx="11037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Escalating connectivity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8622506" y="3186113"/>
            <a:ext cx="642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4886325" y="3514725"/>
            <a:ext cx="38004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detectors identify suspicious behavioural signals; they do not independently establish money laundering.</a:t>
            </a:r>
            <a:endParaRPr lang="en-US" sz="600" dirty="0"/>
          </a:p>
        </p:txBody>
      </p:sp>
      <p:sp>
        <p:nvSpPr>
          <p:cNvPr id="78" name="Text 75"/>
          <p:cNvSpPr/>
          <p:nvPr/>
        </p:nvSpPr>
        <p:spPr>
          <a:xfrm>
            <a:off x="285750" y="4707731"/>
            <a:ext cx="25610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| Detection: Pattern-Aware Structural Analytics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3744" y="285750"/>
            <a:ext cx="17645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[CANDIDATE_ENGINE]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285750" y="285750"/>
            <a:ext cx="8572500" cy="3214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85750" y="600075"/>
            <a:ext cx="857250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85750" y="2857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Pattern Trajectories &amp; Ring Candidates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85750" y="885825"/>
            <a:ext cx="4143375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057275"/>
            <a:ext cx="38004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Suspicious Pattern Sequence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500188" y="1228725"/>
            <a:ext cx="1714500" cy="335756"/>
          </a:xfrm>
          <a:prstGeom prst="rect">
            <a:avLst/>
          </a:prstGeom>
          <a:solidFill>
            <a:srgbClr val="F6F8FB"/>
          </a:solidFill>
          <a:ln w="9144">
            <a:solidFill>
              <a:srgbClr val="08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500188" y="1228725"/>
            <a:ext cx="1714500" cy="335756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Fan-in</a:t>
            </a:r>
            <a:endParaRPr lang="en-US" sz="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431" y="1660922"/>
            <a:ext cx="100013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500188" y="1893094"/>
            <a:ext cx="1714500" cy="335756"/>
          </a:xfrm>
          <a:prstGeom prst="rect">
            <a:avLst/>
          </a:prstGeom>
          <a:solidFill>
            <a:srgbClr val="F6F8FB"/>
          </a:solidFill>
          <a:ln w="9144">
            <a:solidFill>
              <a:srgbClr val="08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1500188" y="1893094"/>
            <a:ext cx="1714500" cy="335756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pass-through</a:t>
            </a:r>
            <a:endParaRPr lang="en-US" sz="7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431" y="2325291"/>
            <a:ext cx="100013" cy="1143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500188" y="2557463"/>
            <a:ext cx="1714500" cy="335756"/>
          </a:xfrm>
          <a:prstGeom prst="rect">
            <a:avLst/>
          </a:prstGeom>
          <a:solidFill>
            <a:srgbClr val="F6F8FB"/>
          </a:solidFill>
          <a:ln w="9144">
            <a:solidFill>
              <a:srgbClr val="08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500188" y="2557463"/>
            <a:ext cx="1714500" cy="335756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Layering</a:t>
            </a:r>
            <a:endParaRPr lang="en-US" sz="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431" y="2989659"/>
            <a:ext cx="100013" cy="1143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500188" y="3221831"/>
            <a:ext cx="1714500" cy="335756"/>
          </a:xfrm>
          <a:prstGeom prst="rect">
            <a:avLst/>
          </a:prstGeom>
          <a:solidFill>
            <a:srgbClr val="F6F8FB"/>
          </a:solidFill>
          <a:ln w="9144">
            <a:solidFill>
              <a:srgbClr val="08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1500188" y="3221831"/>
            <a:ext cx="1714500" cy="335756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Circular flow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457200" y="3614738"/>
            <a:ext cx="38004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event belongs to a temporal window; multiple patterns may occur within the same window.</a:t>
            </a:r>
            <a:endParaRPr lang="en-US" sz="650" dirty="0"/>
          </a:p>
        </p:txBody>
      </p:sp>
      <p:sp>
        <p:nvSpPr>
          <p:cNvPr id="21" name="Text 15"/>
          <p:cNvSpPr/>
          <p:nvPr/>
        </p:nvSpPr>
        <p:spPr>
          <a:xfrm>
            <a:off x="457200" y="4021931"/>
            <a:ext cx="38004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trajectory span: 10 days | Minimum structural evidence: 2 structural events</a:t>
            </a:r>
            <a:endParaRPr lang="en-US" sz="650" dirty="0"/>
          </a:p>
        </p:txBody>
      </p:sp>
      <p:sp>
        <p:nvSpPr>
          <p:cNvPr id="22" name="Text 16"/>
          <p:cNvSpPr/>
          <p:nvPr/>
        </p:nvSpPr>
        <p:spPr>
          <a:xfrm>
            <a:off x="457200" y="4161234"/>
            <a:ext cx="380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3,460 Bounded Trajectories</a:t>
            </a: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(Max 10-day span | Min 2 structural events)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714875" y="885825"/>
            <a:ext cx="4143375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4886325" y="1057275"/>
            <a:ext cx="38004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142 Analytical Ring Candidates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886325" y="1228725"/>
            <a:ext cx="1843088" cy="550069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5000625" y="1343025"/>
            <a:ext cx="16144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WATCH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5000625" y="1521619"/>
            <a:ext cx="16144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suspicious evidence.</a:t>
            </a:r>
            <a:endParaRPr lang="en-US" sz="600" dirty="0"/>
          </a:p>
        </p:txBody>
      </p:sp>
      <p:sp>
        <p:nvSpPr>
          <p:cNvPr id="28" name="Shape 22"/>
          <p:cNvSpPr/>
          <p:nvPr/>
        </p:nvSpPr>
        <p:spPr>
          <a:xfrm>
            <a:off x="6843713" y="1228725"/>
            <a:ext cx="1843088" cy="550069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6958013" y="1343025"/>
            <a:ext cx="16144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FORMING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6958013" y="1521619"/>
            <a:ext cx="16144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≥2 structural suspicious signals.</a:t>
            </a:r>
            <a:endParaRPr lang="en-US" sz="600" dirty="0"/>
          </a:p>
        </p:txBody>
      </p:sp>
      <p:sp>
        <p:nvSpPr>
          <p:cNvPr id="31" name="Shape 25"/>
          <p:cNvSpPr/>
          <p:nvPr/>
        </p:nvSpPr>
        <p:spPr>
          <a:xfrm>
            <a:off x="4886325" y="1878806"/>
            <a:ext cx="1843088" cy="550069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5000625" y="1993106"/>
            <a:ext cx="16144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EMERGING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5000625" y="2171700"/>
            <a:ext cx="16144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complementary patterns.</a:t>
            </a:r>
            <a:endParaRPr lang="en-US" sz="600" dirty="0"/>
          </a:p>
        </p:txBody>
      </p:sp>
      <p:sp>
        <p:nvSpPr>
          <p:cNvPr id="34" name="Shape 28"/>
          <p:cNvSpPr/>
          <p:nvPr/>
        </p:nvSpPr>
        <p:spPr>
          <a:xfrm>
            <a:off x="6843713" y="1878806"/>
            <a:ext cx="1843088" cy="550069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/>
          <p:nvPr/>
        </p:nvSpPr>
        <p:spPr>
          <a:xfrm>
            <a:off x="6958013" y="1993106"/>
            <a:ext cx="16144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OBSERVABLE_RING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6958013" y="2171700"/>
            <a:ext cx="16144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multi-pattern evidence.</a:t>
            </a:r>
            <a:endParaRPr lang="en-US" sz="600" dirty="0"/>
          </a:p>
        </p:txBody>
      </p:sp>
      <p:sp>
        <p:nvSpPr>
          <p:cNvPr id="37" name="Shape 31"/>
          <p:cNvSpPr/>
          <p:nvPr/>
        </p:nvSpPr>
        <p:spPr>
          <a:xfrm>
            <a:off x="4886325" y="4096941"/>
            <a:ext cx="3800475" cy="589359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4886325" y="4096941"/>
            <a:ext cx="28575" cy="589359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4886325" y="4096941"/>
            <a:ext cx="3800475" cy="5893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DISTINCTION:</a:t>
            </a: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Formation stages indicate analytical evidence maturity. They do NOT establish criminal guilt or confirmed laundering.</a:t>
            </a:r>
            <a:endParaRPr lang="en-US" sz="650" dirty="0"/>
          </a:p>
        </p:txBody>
      </p:sp>
      <p:sp>
        <p:nvSpPr>
          <p:cNvPr id="40" name="Text 34"/>
          <p:cNvSpPr/>
          <p:nvPr/>
        </p:nvSpPr>
        <p:spPr>
          <a:xfrm>
            <a:off x="285750" y="4707731"/>
            <a:ext cx="29968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| Generation: From Pattern Episodes to Candidate Rings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0819" y="285750"/>
            <a:ext cx="23074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[FORENSIC_EXAMPLE_RING056]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285750" y="285750"/>
            <a:ext cx="8572500" cy="3214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85750" y="600075"/>
            <a:ext cx="857250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85750" y="2857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Risk Scoring — RING056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85750" y="885825"/>
            <a:ext cx="3314700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057275"/>
            <a:ext cx="2971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67.13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457200" y="1571625"/>
            <a:ext cx="2971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2971800" cy="392906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2057400"/>
            <a:ext cx="2971800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Risk = (B×35%) + (N×20%) + (F×25%) + (P×20%)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57200" y="2607469"/>
            <a:ext cx="1428750" cy="657225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1500" y="2721769"/>
            <a:ext cx="12001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BEHAVIOURAL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71500" y="2878931"/>
            <a:ext cx="12001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92.54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000250" y="2607469"/>
            <a:ext cx="1428750" cy="657225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114550" y="2721769"/>
            <a:ext cx="12001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2114550" y="2878931"/>
            <a:ext cx="12001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97.89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364706"/>
            <a:ext cx="1428750" cy="657225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71500" y="3479006"/>
            <a:ext cx="12001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FLOW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71500" y="3636169"/>
            <a:ext cx="12001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37.50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000250" y="3364706"/>
            <a:ext cx="1428750" cy="657225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2114550" y="3479006"/>
            <a:ext cx="12001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PERSISTENCE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2114550" y="3636169"/>
            <a:ext cx="12001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28.93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886200" y="885825"/>
            <a:ext cx="4972050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057650" y="1057275"/>
            <a:ext cx="4629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Forensic Factors &amp; Evolution</a:t>
            </a:r>
            <a:endParaRPr lang="en-US" sz="8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271588"/>
            <a:ext cx="107156" cy="1071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221956" y="1260872"/>
            <a:ext cx="16554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model probability ≈ 92.5%</a:t>
            </a:r>
            <a:endParaRPr lang="en-US" sz="8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464469"/>
            <a:ext cx="107156" cy="10715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221956" y="1453753"/>
            <a:ext cx="229481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Evidence-subgraph density ≈ 98th percentile</a:t>
            </a:r>
            <a:endParaRPr lang="en-US" sz="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657350"/>
            <a:ext cx="107156" cy="1071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221956" y="1646634"/>
            <a:ext cx="16644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distinct pattern types detected</a:t>
            </a:r>
            <a:endParaRPr lang="en-US" sz="8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850231"/>
            <a:ext cx="107156" cy="1071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221956" y="1839516"/>
            <a:ext cx="23681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events across 7 participant accounts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4057650" y="2171700"/>
            <a:ext cx="4629150" cy="1143000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4057650" y="2171700"/>
            <a:ext cx="4629150" cy="114300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Suspicious Pattern Sequence (Observed):</a:t>
            </a:r>
            <a:r>
              <a:rPr lang="en-US" sz="75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Window 145
Rapid pass-through
↓
Window 152
Circular flow + Fan-in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285750" y="4707731"/>
            <a:ext cx="2571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| Explanation: Multi-Factor Risk Decomposition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54416" y="285750"/>
            <a:ext cx="2103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[INVESTIGATOR_WORKFLOW]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285750" y="285750"/>
            <a:ext cx="8572500" cy="3214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85750" y="600075"/>
            <a:ext cx="857250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85750" y="285750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Forensic Evidence &amp; Investigator Workflow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85750" y="885825"/>
            <a:ext cx="3766654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057275"/>
            <a:ext cx="34237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 Generation Pipeline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28725"/>
            <a:ext cx="200025" cy="200025"/>
          </a:xfrm>
          <a:prstGeom prst="ellipse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12287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2950" y="1243013"/>
            <a:ext cx="14144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ID &amp; Risk Score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1514475"/>
            <a:ext cx="200025" cy="200025"/>
          </a:xfrm>
          <a:prstGeom prst="ellipse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15144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42950" y="1528763"/>
            <a:ext cx="12823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Account Set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00225"/>
            <a:ext cx="200025" cy="200025"/>
          </a:xfrm>
          <a:prstGeom prst="ellipse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" y="18002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2950" y="1814513"/>
            <a:ext cx="14966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Evidence Table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2085975"/>
            <a:ext cx="200025" cy="200025"/>
          </a:xfrm>
          <a:prstGeom prst="ellipse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57200" y="20859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42950" y="2100263"/>
            <a:ext cx="13394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Evidence Record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2371725"/>
            <a:ext cx="200025" cy="200025"/>
          </a:xfrm>
          <a:prstGeom prst="ellipse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57200" y="23717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42950" y="2386013"/>
            <a:ext cx="12465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Authoritative Subgraph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57200" y="2828925"/>
            <a:ext cx="3423754" cy="882923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57200" y="2828925"/>
            <a:ext cx="3423754" cy="88292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Principle:</a:t>
            </a:r>
            <a:r>
              <a:rPr lang="en-US" sz="7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Every dashboard number has a clear provenance. Row-level data must match backend records; if unavailable, show "N/A" rather than fabricating.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57200" y="3811860"/>
            <a:ext cx="3423754" cy="57529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57200" y="3811860"/>
            <a:ext cx="28575" cy="575295"/>
          </a:xfrm>
          <a:prstGeom prst="rect">
            <a:avLst/>
          </a:prstGeom>
          <a:solidFill>
            <a:srgbClr val="08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57200" y="3811860"/>
            <a:ext cx="3423754" cy="5752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Investigator workflow:</a:t>
            </a: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Candidate + Risk Score → Participant Accounts → Suspicious Transactions → Pattern Evidence → Evidence Subgraph → Investigator Review.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338154" y="885825"/>
            <a:ext cx="4520096" cy="397192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509604" y="1057275"/>
            <a:ext cx="417719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Investigator Decision Support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09604" y="1228725"/>
            <a:ext cx="4177196" cy="3457575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623904" y="1343025"/>
            <a:ext cx="12001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[INVESTIGATION: RING056]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772400" y="1343025"/>
            <a:ext cx="800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F9731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HIGH RISK: 67.13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4623904" y="1650206"/>
            <a:ext cx="1287605" cy="2921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Graph + Transaction Evidence</a:t>
            </a:r>
            <a:endParaRPr lang="en-US" sz="500" dirty="0"/>
          </a:p>
        </p:txBody>
      </p:sp>
      <p:sp>
        <p:nvSpPr>
          <p:cNvPr id="35" name="Text 32"/>
          <p:cNvSpPr/>
          <p:nvPr/>
        </p:nvSpPr>
        <p:spPr>
          <a:xfrm>
            <a:off x="5997234" y="1650206"/>
            <a:ext cx="34072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" b="1" dirty="0">
                <a:solidFill>
                  <a:srgbClr val="5B6B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Tx ID</a:t>
            </a:r>
            <a:endParaRPr lang="en-US" sz="500" dirty="0"/>
          </a:p>
        </p:txBody>
      </p:sp>
      <p:sp>
        <p:nvSpPr>
          <p:cNvPr id="36" name="Text 33"/>
          <p:cNvSpPr/>
          <p:nvPr/>
        </p:nvSpPr>
        <p:spPr>
          <a:xfrm>
            <a:off x="6337957" y="1650206"/>
            <a:ext cx="48683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" b="1" dirty="0">
                <a:solidFill>
                  <a:srgbClr val="5B6B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Sender</a:t>
            </a:r>
            <a:endParaRPr lang="en-US" sz="500" dirty="0"/>
          </a:p>
        </p:txBody>
      </p:sp>
      <p:sp>
        <p:nvSpPr>
          <p:cNvPr id="37" name="Text 34"/>
          <p:cNvSpPr/>
          <p:nvPr/>
        </p:nvSpPr>
        <p:spPr>
          <a:xfrm>
            <a:off x="6824793" y="1650206"/>
            <a:ext cx="49403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" b="1" dirty="0">
                <a:solidFill>
                  <a:srgbClr val="5B6B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Pattern</a:t>
            </a:r>
            <a:endParaRPr lang="en-US" sz="500" dirty="0"/>
          </a:p>
        </p:txBody>
      </p:sp>
      <p:sp>
        <p:nvSpPr>
          <p:cNvPr id="38" name="Text 35"/>
          <p:cNvSpPr/>
          <p:nvPr/>
        </p:nvSpPr>
        <p:spPr>
          <a:xfrm>
            <a:off x="5997234" y="1760934"/>
            <a:ext cx="132159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Candidate: RING056</a:t>
            </a:r>
            <a:endParaRPr lang="en-US" sz="500" dirty="0"/>
          </a:p>
        </p:txBody>
      </p:sp>
      <p:sp>
        <p:nvSpPr>
          <p:cNvPr id="39" name="Text 36"/>
          <p:cNvSpPr/>
          <p:nvPr/>
        </p:nvSpPr>
        <p:spPr>
          <a:xfrm>
            <a:off x="5997234" y="1871663"/>
            <a:ext cx="132159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Score: 67.13 — HIGH</a:t>
            </a:r>
            <a:endParaRPr lang="en-US" sz="500" dirty="0"/>
          </a:p>
        </p:txBody>
      </p:sp>
      <p:sp>
        <p:nvSpPr>
          <p:cNvPr id="40" name="Text 37"/>
          <p:cNvSpPr/>
          <p:nvPr/>
        </p:nvSpPr>
        <p:spPr>
          <a:xfrm>
            <a:off x="5997234" y="1978819"/>
            <a:ext cx="132159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 Accounts: 7</a:t>
            </a:r>
            <a:endParaRPr lang="en-US" sz="500" dirty="0"/>
          </a:p>
        </p:txBody>
      </p:sp>
      <p:sp>
        <p:nvSpPr>
          <p:cNvPr id="41" name="Text 38"/>
          <p:cNvSpPr/>
          <p:nvPr/>
        </p:nvSpPr>
        <p:spPr>
          <a:xfrm>
            <a:off x="5997234" y="2085975"/>
            <a:ext cx="132159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Transactions: 6</a:t>
            </a:r>
            <a:endParaRPr lang="en-US" sz="500" dirty="0"/>
          </a:p>
        </p:txBody>
      </p:sp>
      <p:sp>
        <p:nvSpPr>
          <p:cNvPr id="42" name="Text 39"/>
          <p:cNvSpPr/>
          <p:nvPr/>
        </p:nvSpPr>
        <p:spPr>
          <a:xfrm>
            <a:off x="5997234" y="2193131"/>
            <a:ext cx="132159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Subgraph: 6 nodes / 6 edges</a:t>
            </a:r>
            <a:endParaRPr lang="en-US" sz="500" dirty="0"/>
          </a:p>
        </p:txBody>
      </p:sp>
      <p:sp>
        <p:nvSpPr>
          <p:cNvPr id="43" name="Text 40"/>
          <p:cNvSpPr/>
          <p:nvPr/>
        </p:nvSpPr>
        <p:spPr>
          <a:xfrm>
            <a:off x="5997234" y="2386013"/>
            <a:ext cx="257526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displayed evidence must correspond to stored backend records; unavailable fields are shown as N/A.</a:t>
            </a:r>
            <a:endParaRPr lang="en-US" sz="450" dirty="0"/>
          </a:p>
        </p:txBody>
      </p:sp>
      <p:sp>
        <p:nvSpPr>
          <p:cNvPr id="44" name="Text 41"/>
          <p:cNvSpPr/>
          <p:nvPr/>
        </p:nvSpPr>
        <p:spPr>
          <a:xfrm>
            <a:off x="6890147" y="4521994"/>
            <a:ext cx="173950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" dirty="0">
                <a:solidFill>
                  <a:srgbClr val="A7B5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SOURCE: AMLSim + Project SQLite Database</a:t>
            </a:r>
            <a:endParaRPr lang="en-US" sz="500" dirty="0"/>
          </a:p>
        </p:txBody>
      </p:sp>
      <p:sp>
        <p:nvSpPr>
          <p:cNvPr id="45" name="Text 42"/>
          <p:cNvSpPr/>
          <p:nvPr/>
        </p:nvSpPr>
        <p:spPr>
          <a:xfrm>
            <a:off x="285750" y="4707731"/>
            <a:ext cx="257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| Interface: Forensic Decision Support System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3727" y="142875"/>
            <a:ext cx="172024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[EVALUATION_METRICS]</a:t>
            </a:r>
            <a:endParaRPr lang="en-US" sz="650" dirty="0"/>
          </a:p>
        </p:txBody>
      </p:sp>
      <p:sp>
        <p:nvSpPr>
          <p:cNvPr id="4" name="Shape 1"/>
          <p:cNvSpPr/>
          <p:nvPr/>
        </p:nvSpPr>
        <p:spPr>
          <a:xfrm>
            <a:off x="200025" y="200025"/>
            <a:ext cx="8743950" cy="21855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00025" y="411435"/>
            <a:ext cx="874395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00025" y="200025"/>
            <a:ext cx="874395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 Truth, Lead-Time Evaluation &amp; Limitations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00025" y="554310"/>
            <a:ext cx="4300538" cy="3509367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28613" y="682898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Ring-Level Forensic Evaluation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8613" y="854348"/>
            <a:ext cx="4043363" cy="285750"/>
          </a:xfrm>
          <a:prstGeom prst="rect">
            <a:avLst/>
          </a:prstGeom>
          <a:solidFill>
            <a:srgbClr val="FBFCFD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28613" y="854348"/>
            <a:ext cx="4043363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Matching Rule: ≥2 shared accounts + temporal overlap.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328613" y="1268685"/>
            <a:ext cx="1978819" cy="603647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14338" y="1354410"/>
            <a:ext cx="18073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4338" y="1654448"/>
            <a:ext cx="18073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 DETECTION RATE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2393156" y="1268685"/>
            <a:ext cx="1978819" cy="603647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478881" y="1354410"/>
            <a:ext cx="18073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478881" y="1654448"/>
            <a:ext cx="18073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DETECTION RATE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328613" y="1943770"/>
            <a:ext cx="1978819" cy="603647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14338" y="2029495"/>
            <a:ext cx="18073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−23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4338" y="2329532"/>
            <a:ext cx="18073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LEAD TIME (WINDOWS)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2393156" y="1943770"/>
            <a:ext cx="1978819" cy="603647"/>
          </a:xfrm>
          <a:prstGeom prst="rect">
            <a:avLst/>
          </a:prstGeom>
          <a:solidFill>
            <a:srgbClr val="F6F8FB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478881" y="2029495"/>
            <a:ext cx="18073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20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98.9%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478881" y="2329532"/>
            <a:ext cx="18073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FALSE-WARNING RATE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328613" y="2661717"/>
            <a:ext cx="4043363" cy="1216223"/>
          </a:xfrm>
          <a:prstGeom prst="rect">
            <a:avLst/>
          </a:prstGeom>
          <a:solidFill>
            <a:srgbClr val="EF4444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328613" y="2661717"/>
            <a:ext cx="28575" cy="121622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28613" y="2661717"/>
            <a:ext cx="4043363" cy="12162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72A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CAUTION:</a:t>
            </a: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98.9% of alerted candidates were unmatched to strict AMLSim ground truth (88 of 89 alerted candidates). This reflects limited candidate-to-ground-truth linkage: only 2 of 142 candidates achieved a strict match, and only 1 matched candidate crossed the alert threshold. 
Negative lead time means the matched candidate warning occurred after the AMLSim observable event: −23 windows means 23 temporal windows after the ground-truth observable time. Therefore, 0% early detection means no strictly matched candidate warned before that event.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643438" y="554310"/>
            <a:ext cx="4300538" cy="1989534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772025" y="682898"/>
            <a:ext cx="4043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Critical Limitations &amp; Interpretation</a:t>
            </a:r>
            <a:endParaRPr lang="en-US" sz="85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888" y="897210"/>
            <a:ext cx="128588" cy="92869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00625" y="882923"/>
            <a:ext cx="38147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620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Evaluation Levels:</a:t>
            </a:r>
            <a:r>
              <a:rPr lang="en-US" sz="650" dirty="0">
                <a:solidFill>
                  <a:srgbClr val="2432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ML metrics (ROC-AUC 0.9750) evaluate account-window ranking, NOT ring reconstruction success.</a:t>
            </a:r>
            <a:endParaRPr lang="en-US" sz="65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888" y="1200820"/>
            <a:ext cx="128588" cy="92869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000625" y="1200820"/>
            <a:ext cx="3400425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620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Sparse Labels:</a:t>
            </a:r>
            <a:r>
              <a:rPr lang="en-US" sz="650" dirty="0">
                <a:solidFill>
                  <a:srgbClr val="2432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32 positive observations in the test set strongly affects precision and reconstruction confidence.</a:t>
            </a:r>
            <a:endParaRPr lang="en-US" sz="6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888" y="1504429"/>
            <a:ext cx="128588" cy="9286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000625" y="1490142"/>
            <a:ext cx="38147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620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Temporal Units:</a:t>
            </a:r>
            <a:r>
              <a:rPr lang="en-US" sz="650" dirty="0">
                <a:solidFill>
                  <a:srgbClr val="2432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 time is measured in windows (720 total); conversion to days requires explicit config justification.</a:t>
            </a:r>
            <a:endParaRPr lang="en-US" sz="65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888" y="1808038"/>
            <a:ext cx="128588" cy="92869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00625" y="1793751"/>
            <a:ext cx="31825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620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Ground Truth:</a:t>
            </a:r>
            <a:r>
              <a:rPr lang="en-US" sz="650" dirty="0">
                <a:solidFill>
                  <a:srgbClr val="2432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100 AMLSim alert events / 671 labelled alert transactions.</a:t>
            </a:r>
            <a:endParaRPr lang="en-US" sz="65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888" y="1995562"/>
            <a:ext cx="128588" cy="92869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000625" y="1981274"/>
            <a:ext cx="3814763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620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Honest Disclosure:</a:t>
            </a:r>
            <a:r>
              <a:rPr lang="en-US" sz="650" dirty="0">
                <a:solidFill>
                  <a:srgbClr val="2432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Ring-level evaluation is limited by incomplete candidate-to-ground-truth linkage; aggregation does not reconstruct all AMLSim alert groups as the same candidate.</a:t>
            </a:r>
            <a:endParaRPr lang="en-US" sz="650" dirty="0"/>
          </a:p>
        </p:txBody>
      </p:sp>
      <p:sp>
        <p:nvSpPr>
          <p:cNvPr id="38" name="Text 30"/>
          <p:cNvSpPr/>
          <p:nvPr/>
        </p:nvSpPr>
        <p:spPr>
          <a:xfrm>
            <a:off x="200025" y="4861322"/>
            <a:ext cx="26753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| Disclosure: Technical Honesty &amp; System Limitations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8075" y="200025"/>
            <a:ext cx="1485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SYS.TS: [CONCLUSION_FINAL]</a:t>
            </a:r>
            <a:endParaRPr lang="en-US" sz="650" dirty="0"/>
          </a:p>
        </p:txBody>
      </p:sp>
      <p:sp>
        <p:nvSpPr>
          <p:cNvPr id="4" name="Shape 1"/>
          <p:cNvSpPr/>
          <p:nvPr/>
        </p:nvSpPr>
        <p:spPr>
          <a:xfrm>
            <a:off x="200025" y="200025"/>
            <a:ext cx="8743950" cy="2128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00025" y="405743"/>
            <a:ext cx="8743950" cy="7144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00025" y="200025"/>
            <a:ext cx="87439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Conclusion, Research Contribution &amp; Future Work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00025" y="534330"/>
            <a:ext cx="4675863" cy="4409145"/>
          </a:xfrm>
          <a:prstGeom prst="rect">
            <a:avLst/>
          </a:prstGeom>
          <a:solidFill>
            <a:srgbClr val="FFFFFF"/>
          </a:solidFill>
          <a:ln w="9144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42900" y="677205"/>
            <a:ext cx="43901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Current Achieved Outputs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42900" y="934380"/>
            <a:ext cx="4390113" cy="1242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197,905 transactions</a:t>
            </a:r>
            <a:endParaRPr lang="en-US" sz="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12,043 accounts</a:t>
            </a:r>
            <a:endParaRPr lang="en-US" sz="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720 temporal windows</a:t>
            </a:r>
            <a:endParaRPr lang="en-US" sz="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2,693,201 account-window observations</a:t>
            </a:r>
            <a:endParaRPr lang="en-US" sz="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53 engineered features</a:t>
            </a:r>
            <a:endParaRPr lang="en-US" sz="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39,869 pattern events</a:t>
            </a:r>
            <a:endParaRPr lang="en-US" sz="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3,460 bounded trajectories</a:t>
            </a:r>
            <a:endParaRPr lang="en-US" sz="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142 analytical ring candidates</a:t>
            </a:r>
            <a:endParaRPr lang="en-US" sz="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100 AMLSim ground-truth alerts</a:t>
            </a:r>
            <a:endParaRPr lang="en-US" sz="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00" dirty="0">
                <a:solidFill>
                  <a:srgbClr val="1620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671 alert transactions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42900" y="2263006"/>
            <a:ext cx="43901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Future Work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534469"/>
            <a:ext cx="128588" cy="92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925" y="2520181"/>
            <a:ext cx="1710928" cy="143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threshold &amp; Top-K tuning</a:t>
            </a:r>
            <a:endParaRPr lang="en-US" sz="6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721266"/>
            <a:ext cx="128588" cy="928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2925" y="2706979"/>
            <a:ext cx="1703784" cy="143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weighting for extreme imbalance</a:t>
            </a:r>
            <a:endParaRPr lang="en-US" sz="6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2908064"/>
            <a:ext cx="128588" cy="928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2925" y="2893777"/>
            <a:ext cx="1878806" cy="143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Forecast-horizon &amp; multi-level optimization</a:t>
            </a:r>
            <a:endParaRPr lang="en-US" sz="6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3094862"/>
            <a:ext cx="128588" cy="928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2925" y="3080575"/>
            <a:ext cx="1789509" cy="143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Pattern-transition &amp; persistence features</a:t>
            </a:r>
            <a:endParaRPr lang="en-US" sz="6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281660"/>
            <a:ext cx="128588" cy="9286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2925" y="3267373"/>
            <a:ext cx="2068116" cy="143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candidate-to-ground-truth matching</a:t>
            </a:r>
            <a:endParaRPr lang="en-US" sz="6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468458"/>
            <a:ext cx="128588" cy="9286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42925" y="3454171"/>
            <a:ext cx="1950244" cy="143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Ring-level candidate aggregation refinement</a:t>
            </a:r>
            <a:endParaRPr lang="en-US" sz="6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655256"/>
            <a:ext cx="128588" cy="92869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2925" y="3640968"/>
            <a:ext cx="1757363" cy="143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temporal ground-truth linkage</a:t>
            </a:r>
            <a:endParaRPr lang="en-US" sz="6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3842054"/>
            <a:ext cx="128588" cy="92869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42925" y="3827766"/>
            <a:ext cx="1085850" cy="143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6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Cross-dataset validation</a:t>
            </a:r>
            <a:endParaRPr lang="en-US" sz="650" dirty="0"/>
          </a:p>
        </p:txBody>
      </p:sp>
      <p:sp>
        <p:nvSpPr>
          <p:cNvPr id="27" name="Text 16"/>
          <p:cNvSpPr/>
          <p:nvPr/>
        </p:nvSpPr>
        <p:spPr>
          <a:xfrm>
            <a:off x="342900" y="4672013"/>
            <a:ext cx="43901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Future Experiments — No Fabricated Results</a:t>
            </a:r>
            <a:endParaRPr lang="en-US" sz="600" dirty="0"/>
          </a:p>
        </p:txBody>
      </p:sp>
      <p:sp>
        <p:nvSpPr>
          <p:cNvPr id="28" name="Shape 17"/>
          <p:cNvSpPr/>
          <p:nvPr/>
        </p:nvSpPr>
        <p:spPr>
          <a:xfrm>
            <a:off x="5047338" y="534330"/>
            <a:ext cx="3896637" cy="4409145"/>
          </a:xfrm>
          <a:prstGeom prst="rect">
            <a:avLst/>
          </a:prstGeom>
          <a:solidFill>
            <a:srgbClr val="FFFFFF"/>
          </a:solidFill>
          <a:ln w="9144">
            <a:solidFill>
              <a:srgbClr val="08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8"/>
          <p:cNvSpPr/>
          <p:nvPr/>
        </p:nvSpPr>
        <p:spPr>
          <a:xfrm>
            <a:off x="5190213" y="1623473"/>
            <a:ext cx="3610887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MAIN CONCLUSION</a:t>
            </a:r>
            <a:endParaRPr lang="en-US" sz="700" dirty="0"/>
          </a:p>
        </p:txBody>
      </p:sp>
      <p:sp>
        <p:nvSpPr>
          <p:cNvPr id="30" name="Text 19"/>
          <p:cNvSpPr/>
          <p:nvPr/>
        </p:nvSpPr>
        <p:spPr>
          <a:xfrm>
            <a:off x="5190213" y="1808485"/>
            <a:ext cx="33932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demonstrates an end-to-end temporal AML</a:t>
            </a:r>
            <a:endParaRPr lang="en-US" sz="950" dirty="0"/>
          </a:p>
        </p:txBody>
      </p:sp>
      <p:sp>
        <p:nvSpPr>
          <p:cNvPr id="31" name="Text 20"/>
          <p:cNvSpPr/>
          <p:nvPr/>
        </p:nvSpPr>
        <p:spPr>
          <a:xfrm>
            <a:off x="5190213" y="1982056"/>
            <a:ext cx="313967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forensic analytics pipeline that converts transaction</a:t>
            </a:r>
            <a:endParaRPr lang="en-US" sz="950" dirty="0"/>
          </a:p>
        </p:txBody>
      </p:sp>
      <p:sp>
        <p:nvSpPr>
          <p:cNvPr id="32" name="Text 21"/>
          <p:cNvSpPr/>
          <p:nvPr/>
        </p:nvSpPr>
        <p:spPr>
          <a:xfrm>
            <a:off x="5190213" y="2155627"/>
            <a:ext cx="30432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into temporal graphs, suspicious patterns,</a:t>
            </a:r>
            <a:endParaRPr lang="en-US" sz="950" dirty="0"/>
          </a:p>
        </p:txBody>
      </p:sp>
      <p:sp>
        <p:nvSpPr>
          <p:cNvPr id="33" name="Text 22"/>
          <p:cNvSpPr/>
          <p:nvPr/>
        </p:nvSpPr>
        <p:spPr>
          <a:xfrm>
            <a:off x="5190213" y="2329197"/>
            <a:ext cx="29932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trajectories, explainable risk scores and</a:t>
            </a:r>
            <a:endParaRPr lang="en-US" sz="950" dirty="0"/>
          </a:p>
        </p:txBody>
      </p:sp>
      <p:sp>
        <p:nvSpPr>
          <p:cNvPr id="34" name="Text 23"/>
          <p:cNvSpPr/>
          <p:nvPr/>
        </p:nvSpPr>
        <p:spPr>
          <a:xfrm>
            <a:off x="5190213" y="2502768"/>
            <a:ext cx="19002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investigator-oriented evidence.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5190213" y="2740633"/>
            <a:ext cx="3610887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RESEARCH CONTRIBUTION</a:t>
            </a:r>
            <a:endParaRPr lang="en-US" sz="700" dirty="0"/>
          </a:p>
        </p:txBody>
      </p:sp>
      <p:sp>
        <p:nvSpPr>
          <p:cNvPr id="36" name="Text 25"/>
          <p:cNvSpPr/>
          <p:nvPr/>
        </p:nvSpPr>
        <p:spPr>
          <a:xfrm>
            <a:off x="5190213" y="2918501"/>
            <a:ext cx="361088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formation-stage AML framework that links temporal network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5190213" y="3091737"/>
            <a:ext cx="361088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behaviour, multi-pattern trajectories, explainable risk decomposition</a:t>
            </a:r>
            <a:endParaRPr lang="en-US" sz="800" dirty="0"/>
          </a:p>
        </p:txBody>
      </p:sp>
      <p:sp>
        <p:nvSpPr>
          <p:cNvPr id="38" name="Text 27"/>
          <p:cNvSpPr/>
          <p:nvPr/>
        </p:nvSpPr>
        <p:spPr>
          <a:xfrm>
            <a:off x="5190213" y="3264973"/>
            <a:ext cx="361088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explicit lead-time evaluation within one forensic investigation</a:t>
            </a:r>
            <a:endParaRPr lang="en-US" sz="800" dirty="0"/>
          </a:p>
        </p:txBody>
      </p:sp>
      <p:sp>
        <p:nvSpPr>
          <p:cNvPr id="39" name="Text 28"/>
          <p:cNvSpPr/>
          <p:nvPr/>
        </p:nvSpPr>
        <p:spPr>
          <a:xfrm>
            <a:off x="5190213" y="3438209"/>
            <a:ext cx="361088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16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workflow.</a:t>
            </a:r>
            <a:endParaRPr lang="en-US" sz="800" dirty="0"/>
          </a:p>
        </p:txBody>
      </p:sp>
      <p:sp>
        <p:nvSpPr>
          <p:cNvPr id="40" name="Text 29"/>
          <p:cNvSpPr/>
          <p:nvPr/>
        </p:nvSpPr>
        <p:spPr>
          <a:xfrm>
            <a:off x="5190213" y="3725745"/>
            <a:ext cx="3610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087EA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TEMPORAL NETWORK ANALYTICS + EXPLAINABLE RISK SCORING</a:t>
            </a:r>
            <a:endParaRPr lang="en-US" sz="600" dirty="0"/>
          </a:p>
        </p:txBody>
      </p:sp>
      <p:sp>
        <p:nvSpPr>
          <p:cNvPr id="41" name="Text 30"/>
          <p:cNvSpPr/>
          <p:nvPr/>
        </p:nvSpPr>
        <p:spPr>
          <a:xfrm>
            <a:off x="200025" y="4804172"/>
            <a:ext cx="26646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12 | Conclusion: End-to-End Forensic Analytics Pipeline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1790</Words>
  <Application>Microsoft Office PowerPoint</Application>
  <PresentationFormat>On-screen Show (16:9)</PresentationFormat>
  <Paragraphs>349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Inter</vt:lpstr>
      <vt:lpstr>Inter Bold</vt:lpstr>
      <vt:lpstr>Inter SemiBold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Keerthana A R</cp:lastModifiedBy>
  <cp:revision>2</cp:revision>
  <dcterms:created xsi:type="dcterms:W3CDTF">2026-10-05T21:33:10Z</dcterms:created>
  <dcterms:modified xsi:type="dcterms:W3CDTF">2026-10-06T13:00:03Z</dcterms:modified>
</cp:coreProperties>
</file>