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71450" y="171450"/>
            <a:ext cx="8801100" cy="2299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The Real Problem: Too Many Alerts, Too Little Immediate Ground Truth</a:t>
            </a:r>
            <a:endParaRPr lang="en-US" sz="1400" dirty="0"/>
          </a:p>
        </p:txBody>
      </p:sp>
      <p:sp>
        <p:nvSpPr>
          <p:cNvPr id="4" name="Shape 1"/>
          <p:cNvSpPr/>
          <p:nvPr/>
        </p:nvSpPr>
        <p:spPr>
          <a:xfrm>
            <a:off x="171450" y="487170"/>
            <a:ext cx="8801100" cy="4484880"/>
          </a:xfrm>
          <a:prstGeom prst="rect">
            <a:avLst/>
          </a:prstGeom>
          <a:solidFill>
            <a:srgbClr val="F4F5F8"/>
          </a:solidFill>
          <a:ln/>
        </p:spPr>
      </p:sp>
      <p:sp>
        <p:nvSpPr>
          <p:cNvPr id="5" name="Shape 2"/>
          <p:cNvSpPr/>
          <p:nvPr/>
        </p:nvSpPr>
        <p:spPr>
          <a:xfrm>
            <a:off x="171450" y="487170"/>
            <a:ext cx="8801100" cy="28575"/>
          </a:xfrm>
          <a:prstGeom prst="rect">
            <a:avLst/>
          </a:prstGeom>
          <a:solidFill>
            <a:srgbClr val="00A8E8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325" y="638975"/>
            <a:ext cx="142875" cy="1428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8638" y="630045"/>
            <a:ext cx="1595847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Operational Reality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314325" y="862217"/>
            <a:ext cx="4186238" cy="331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50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AML systems generate a massive volume of alerts, but human investigation is slow and resource-constrained.</a:t>
            </a:r>
            <a:endParaRPr lang="en-US" sz="850" dirty="0"/>
          </a:p>
        </p:txBody>
      </p:sp>
      <p:sp>
        <p:nvSpPr>
          <p:cNvPr id="9" name="Shape 5"/>
          <p:cNvSpPr/>
          <p:nvPr/>
        </p:nvSpPr>
        <p:spPr>
          <a:xfrm>
            <a:off x="314325" y="1293633"/>
            <a:ext cx="4186238" cy="382191"/>
          </a:xfrm>
          <a:prstGeom prst="rect">
            <a:avLst/>
          </a:prstGeom>
          <a:solidFill>
            <a:srgbClr val="FFFFFF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00050" y="1379358"/>
            <a:ext cx="779897" cy="196453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1" name="Text 7"/>
          <p:cNvSpPr/>
          <p:nvPr/>
        </p:nvSpPr>
        <p:spPr>
          <a:xfrm>
            <a:off x="400050" y="1379358"/>
            <a:ext cx="779897" cy="196453"/>
          </a:xfrm>
          <a:prstGeom prst="rect">
            <a:avLst/>
          </a:prstGeom>
          <a:noFill/>
          <a:ln/>
        </p:spPr>
        <p:txBody>
          <a:bodyPr wrap="none" lIns="68072" tIns="51054" rIns="68072" bIns="51054" rtlCol="0" anchor="t">
            <a:sp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</a:t>
            </a:r>
            <a:endParaRPr lang="en-US" sz="6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7871" y="1415076"/>
            <a:ext cx="71438" cy="1143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1607232" y="1379358"/>
            <a:ext cx="716273" cy="196453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4" name="Text 9"/>
          <p:cNvSpPr/>
          <p:nvPr/>
        </p:nvSpPr>
        <p:spPr>
          <a:xfrm>
            <a:off x="1607232" y="1379358"/>
            <a:ext cx="716273" cy="196453"/>
          </a:xfrm>
          <a:prstGeom prst="rect">
            <a:avLst/>
          </a:prstGeom>
          <a:noFill/>
          <a:ln/>
        </p:spPr>
        <p:txBody>
          <a:bodyPr wrap="none" lIns="68072" tIns="51054" rIns="68072" bIns="51054" rtlCol="0" anchor="t">
            <a:sp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</a:t>
            </a:r>
            <a:endParaRPr lang="en-US" sz="6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1429" y="1415076"/>
            <a:ext cx="71438" cy="11430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2750790" y="1379358"/>
            <a:ext cx="411993" cy="196453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7" name="Text 11"/>
          <p:cNvSpPr/>
          <p:nvPr/>
        </p:nvSpPr>
        <p:spPr>
          <a:xfrm>
            <a:off x="2750790" y="1379358"/>
            <a:ext cx="411993" cy="196453"/>
          </a:xfrm>
          <a:prstGeom prst="rect">
            <a:avLst/>
          </a:prstGeom>
          <a:noFill/>
          <a:ln/>
        </p:spPr>
        <p:txBody>
          <a:bodyPr wrap="none" lIns="68072" tIns="51054" rIns="68072" bIns="51054" rtlCol="0" anchor="t">
            <a:sp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</a:t>
            </a:r>
            <a:endParaRPr lang="en-US" sz="65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0708" y="1415076"/>
            <a:ext cx="71438" cy="114300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3590069" y="1379358"/>
            <a:ext cx="824657" cy="196453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0" name="Text 13"/>
          <p:cNvSpPr/>
          <p:nvPr/>
        </p:nvSpPr>
        <p:spPr>
          <a:xfrm>
            <a:off x="3590069" y="1379358"/>
            <a:ext cx="824657" cy="196453"/>
          </a:xfrm>
          <a:prstGeom prst="rect">
            <a:avLst/>
          </a:prstGeom>
          <a:noFill/>
          <a:ln/>
        </p:spPr>
        <p:txBody>
          <a:bodyPr wrap="none" lIns="68072" tIns="51054" rIns="68072" bIns="51054" rtlCol="0" anchor="t">
            <a:sp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INVESTIGATION</a:t>
            </a:r>
            <a:endParaRPr lang="en-US" sz="65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4325" y="1770478"/>
            <a:ext cx="142875" cy="142875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528638" y="1761548"/>
            <a:ext cx="1810327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Label Delay Challenge</a:t>
            </a:r>
            <a:endParaRPr lang="en-US" sz="1000" dirty="0"/>
          </a:p>
        </p:txBody>
      </p:sp>
      <p:sp>
        <p:nvSpPr>
          <p:cNvPr id="23" name="Text 15"/>
          <p:cNvSpPr/>
          <p:nvPr/>
        </p:nvSpPr>
        <p:spPr>
          <a:xfrm>
            <a:off x="314325" y="1993720"/>
            <a:ext cx="4186238" cy="331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50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supervised learning needs immediate labels. In AML, </a:t>
            </a:r>
            <a:r>
              <a:rPr lang="en-US" sz="800" b="1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reliable </a:t>
            </a:r>
            <a:r>
              <a:rPr lang="en-US" sz="800" b="1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confirmation (SAR)</a:t>
            </a:r>
            <a:r>
              <a:rPr lang="en-US" sz="850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often arrives months after the transaction.</a:t>
            </a:r>
            <a:endParaRPr lang="en-US" sz="850" dirty="0"/>
          </a:p>
        </p:txBody>
      </p:sp>
      <p:sp>
        <p:nvSpPr>
          <p:cNvPr id="24" name="Shape 16"/>
          <p:cNvSpPr/>
          <p:nvPr/>
        </p:nvSpPr>
        <p:spPr>
          <a:xfrm>
            <a:off x="314325" y="2425136"/>
            <a:ext cx="4186238" cy="321469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5" name="Text 17"/>
          <p:cNvSpPr/>
          <p:nvPr/>
        </p:nvSpPr>
        <p:spPr>
          <a:xfrm>
            <a:off x="314325" y="2425136"/>
            <a:ext cx="4186238" cy="321469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Overload + Delayed Labels = </a:t>
            </a:r>
            <a:r>
              <a:rPr lang="en-US" sz="900" b="1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Prioritization Crisis</a:t>
            </a:r>
            <a:endParaRPr lang="en-US" sz="900" dirty="0"/>
          </a:p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3438" y="638975"/>
            <a:ext cx="160734" cy="142875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4875609" y="630045"/>
            <a:ext cx="1707133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 Graph is Essential</a:t>
            </a:r>
            <a:endParaRPr lang="en-US" sz="1000" dirty="0"/>
          </a:p>
        </p:txBody>
      </p:sp>
      <p:sp>
        <p:nvSpPr>
          <p:cNvPr id="28" name="Text 19"/>
          <p:cNvSpPr/>
          <p:nvPr/>
        </p:nvSpPr>
        <p:spPr>
          <a:xfrm>
            <a:off x="4643438" y="862217"/>
            <a:ext cx="4186238" cy="331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50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Isolated transactions look normal. Suspicious patterns emerge only through </a:t>
            </a:r>
            <a:r>
              <a:rPr lang="en-US" sz="800" b="1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relationships</a:t>
            </a:r>
            <a:r>
              <a:rPr lang="en-US" sz="850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between accounts.</a:t>
            </a:r>
            <a:endParaRPr lang="en-US" sz="850" dirty="0"/>
          </a:p>
        </p:txBody>
      </p:sp>
      <p:sp>
        <p:nvSpPr>
          <p:cNvPr id="29" name="Shape 20"/>
          <p:cNvSpPr/>
          <p:nvPr/>
        </p:nvSpPr>
        <p:spPr>
          <a:xfrm>
            <a:off x="4643438" y="1293633"/>
            <a:ext cx="4186238" cy="1428750"/>
          </a:xfrm>
          <a:prstGeom prst="rect">
            <a:avLst/>
          </a:prstGeom>
          <a:solidFill>
            <a:srgbClr val="FFFFFF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30" name="Text 21"/>
          <p:cNvSpPr/>
          <p:nvPr/>
        </p:nvSpPr>
        <p:spPr>
          <a:xfrm>
            <a:off x="5915025" y="2150883"/>
            <a:ext cx="57206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600" dirty="0"/>
          </a:p>
        </p:txBody>
      </p:sp>
      <p:sp>
        <p:nvSpPr>
          <p:cNvPr id="31" name="Text 22"/>
          <p:cNvSpPr/>
          <p:nvPr/>
        </p:nvSpPr>
        <p:spPr>
          <a:xfrm>
            <a:off x="6629400" y="1507945"/>
            <a:ext cx="57206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600" dirty="0"/>
          </a:p>
        </p:txBody>
      </p:sp>
      <p:sp>
        <p:nvSpPr>
          <p:cNvPr id="32" name="Text 23"/>
          <p:cNvSpPr/>
          <p:nvPr/>
        </p:nvSpPr>
        <p:spPr>
          <a:xfrm>
            <a:off x="6629400" y="2329476"/>
            <a:ext cx="61950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600" dirty="0"/>
          </a:p>
        </p:txBody>
      </p:sp>
      <p:sp>
        <p:nvSpPr>
          <p:cNvPr id="33" name="Text 24"/>
          <p:cNvSpPr/>
          <p:nvPr/>
        </p:nvSpPr>
        <p:spPr>
          <a:xfrm>
            <a:off x="7343775" y="2150883"/>
            <a:ext cx="61950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600" dirty="0"/>
          </a:p>
        </p:txBody>
      </p:sp>
      <p:sp>
        <p:nvSpPr>
          <p:cNvPr id="34" name="Shape 25"/>
          <p:cNvSpPr/>
          <p:nvPr/>
        </p:nvSpPr>
        <p:spPr>
          <a:xfrm rot="-1200000">
            <a:off x="5978701" y="1816394"/>
            <a:ext cx="757238" cy="14288"/>
          </a:xfrm>
          <a:prstGeom prst="rect">
            <a:avLst/>
          </a:prstGeom>
          <a:solidFill>
            <a:srgbClr val="1C2541"/>
          </a:solidFill>
          <a:ln/>
        </p:spPr>
      </p:sp>
      <p:sp>
        <p:nvSpPr>
          <p:cNvPr id="35" name="Shape 26"/>
          <p:cNvSpPr/>
          <p:nvPr/>
        </p:nvSpPr>
        <p:spPr>
          <a:xfrm rot="1200000">
            <a:off x="5978701" y="2299633"/>
            <a:ext cx="757238" cy="14288"/>
          </a:xfrm>
          <a:prstGeom prst="rect">
            <a:avLst/>
          </a:prstGeom>
          <a:solidFill>
            <a:srgbClr val="1C2541"/>
          </a:solidFill>
          <a:ln/>
        </p:spPr>
      </p:sp>
      <p:sp>
        <p:nvSpPr>
          <p:cNvPr id="36" name="Shape 27"/>
          <p:cNvSpPr/>
          <p:nvPr/>
        </p:nvSpPr>
        <p:spPr>
          <a:xfrm rot="1200000">
            <a:off x="6693076" y="1935302"/>
            <a:ext cx="757238" cy="14288"/>
          </a:xfrm>
          <a:prstGeom prst="rect">
            <a:avLst/>
          </a:prstGeom>
          <a:solidFill>
            <a:srgbClr val="1C2541"/>
          </a:solidFill>
          <a:ln/>
        </p:spPr>
      </p:sp>
      <p:sp>
        <p:nvSpPr>
          <p:cNvPr id="37" name="Shape 28"/>
          <p:cNvSpPr/>
          <p:nvPr/>
        </p:nvSpPr>
        <p:spPr>
          <a:xfrm rot="-1200000">
            <a:off x="6693076" y="2044994"/>
            <a:ext cx="757238" cy="14288"/>
          </a:xfrm>
          <a:prstGeom prst="rect">
            <a:avLst/>
          </a:prstGeom>
          <a:solidFill>
            <a:srgbClr val="1C2541"/>
          </a:solidFill>
          <a:ln/>
        </p:spPr>
      </p:sp>
      <p:sp>
        <p:nvSpPr>
          <p:cNvPr id="38" name="Text 29"/>
          <p:cNvSpPr/>
          <p:nvPr/>
        </p:nvSpPr>
        <p:spPr>
          <a:xfrm>
            <a:off x="4643438" y="2765245"/>
            <a:ext cx="4186238" cy="14499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750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Detecting: Circular flows, Fan-in/out, Multi-hop relationships</a:t>
            </a:r>
            <a:endParaRPr lang="en-US" sz="750" dirty="0"/>
          </a:p>
        </p:txBody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43438" y="3019183"/>
            <a:ext cx="142875" cy="142875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4857750" y="3010253"/>
            <a:ext cx="2088040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Project Objective: TRIAGE</a:t>
            </a:r>
            <a:endParaRPr lang="en-US" sz="1000" dirty="0"/>
          </a:p>
        </p:txBody>
      </p:sp>
      <p:sp>
        <p:nvSpPr>
          <p:cNvPr id="41" name="Text 31"/>
          <p:cNvSpPr/>
          <p:nvPr/>
        </p:nvSpPr>
        <p:spPr>
          <a:xfrm>
            <a:off x="4643438" y="3242425"/>
            <a:ext cx="4186238" cy="331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50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Deciding which incoming alerts should receive human attention first by producing </a:t>
            </a:r>
            <a:r>
              <a:rPr lang="en-US" sz="850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</a:t>
            </a:r>
            <a:r>
              <a:rPr lang="en-US" sz="800" b="1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Score</a:t>
            </a:r>
            <a:r>
              <a:rPr lang="en-US" sz="850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850" dirty="0"/>
          </a:p>
        </p:txBody>
      </p:sp>
      <p:sp>
        <p:nvSpPr>
          <p:cNvPr id="42" name="Shape 32"/>
          <p:cNvSpPr/>
          <p:nvPr/>
        </p:nvSpPr>
        <p:spPr>
          <a:xfrm>
            <a:off x="314325" y="4496991"/>
            <a:ext cx="8515350" cy="332184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43" name="Text 33"/>
          <p:cNvSpPr/>
          <p:nvPr/>
        </p:nvSpPr>
        <p:spPr>
          <a:xfrm>
            <a:off x="314325" y="4496991"/>
            <a:ext cx="8515350" cy="332184"/>
          </a:xfrm>
          <a:prstGeom prst="rect">
            <a:avLst/>
          </a:prstGeom>
          <a:noFill/>
          <a:ln/>
        </p:spPr>
        <p:txBody>
          <a:bodyPr wrap="square" lIns="119126" tIns="119126" rIns="119126" bIns="119126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Understanding:</a:t>
            </a: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project is not trying to replace investigators. It is a decision-support tool to help them decide where to focus their limited time first.</a:t>
            </a:r>
            <a:endParaRPr lang="en-US" sz="850" dirty="0"/>
          </a:p>
        </p:txBody>
      </p:sp>
      <p:sp>
        <p:nvSpPr>
          <p:cNvPr id="44" name="Text 34"/>
          <p:cNvSpPr/>
          <p:nvPr/>
        </p:nvSpPr>
        <p:spPr>
          <a:xfrm>
            <a:off x="8791835" y="4947047"/>
            <a:ext cx="180715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4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00025" y="200025"/>
            <a:ext cx="8743950" cy="213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The Interesting Technical Idea: Learning Before the Labels Arrive</a:t>
            </a:r>
            <a:endParaRPr lang="en-US" sz="1300" dirty="0"/>
          </a:p>
        </p:txBody>
      </p:sp>
      <p:sp>
        <p:nvSpPr>
          <p:cNvPr id="4" name="Shape 1"/>
          <p:cNvSpPr/>
          <p:nvPr/>
        </p:nvSpPr>
        <p:spPr>
          <a:xfrm>
            <a:off x="200025" y="499337"/>
            <a:ext cx="8743950" cy="4444138"/>
          </a:xfrm>
          <a:prstGeom prst="rect">
            <a:avLst/>
          </a:prstGeom>
          <a:solidFill>
            <a:srgbClr val="F4F5F8"/>
          </a:solidFill>
          <a:ln/>
        </p:spPr>
      </p:sp>
      <p:sp>
        <p:nvSpPr>
          <p:cNvPr id="5" name="Shape 2"/>
          <p:cNvSpPr/>
          <p:nvPr/>
        </p:nvSpPr>
        <p:spPr>
          <a:xfrm>
            <a:off x="200025" y="499337"/>
            <a:ext cx="8743950" cy="28575"/>
          </a:xfrm>
          <a:prstGeom prst="rect">
            <a:avLst/>
          </a:prstGeom>
          <a:solidFill>
            <a:srgbClr val="00A8E8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613" y="636854"/>
            <a:ext cx="142875" cy="1428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2925" y="627924"/>
            <a:ext cx="2468947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Graph Contrastive Pretraining?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328613" y="874384"/>
            <a:ext cx="413623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 new alert appears, its reliable final label (SAR confirmation) is not yet available.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328613" y="1288721"/>
            <a:ext cx="413623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shouldn't wait for every confirmed case before learning useful </a:t>
            </a:r>
            <a:r>
              <a:rPr lang="en-US" sz="800" b="1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 structure</a:t>
            </a:r>
            <a:r>
              <a:rPr lang="en-US" sz="850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8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613" y="1769139"/>
            <a:ext cx="142875" cy="14287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42925" y="1760209"/>
            <a:ext cx="1966206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 Advantages for AML</a:t>
            </a:r>
            <a:endParaRPr lang="en-US" sz="1000" dirty="0"/>
          </a:p>
        </p:txBody>
      </p:sp>
      <p:sp>
        <p:nvSpPr>
          <p:cNvPr id="12" name="Shape 7"/>
          <p:cNvSpPr/>
          <p:nvPr/>
        </p:nvSpPr>
        <p:spPr>
          <a:xfrm>
            <a:off x="328613" y="2006668"/>
            <a:ext cx="4136231" cy="40719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8"/>
          <p:cNvSpPr/>
          <p:nvPr/>
        </p:nvSpPr>
        <p:spPr>
          <a:xfrm>
            <a:off x="328613" y="2006668"/>
            <a:ext cx="28575" cy="407194"/>
          </a:xfrm>
          <a:prstGeom prst="rect">
            <a:avLst/>
          </a:prstGeom>
          <a:solidFill>
            <a:srgbClr val="7A28CB"/>
          </a:solidFill>
          <a:ln/>
        </p:spPr>
      </p:sp>
      <p:sp>
        <p:nvSpPr>
          <p:cNvPr id="14" name="Text 9"/>
          <p:cNvSpPr/>
          <p:nvPr/>
        </p:nvSpPr>
        <p:spPr>
          <a:xfrm>
            <a:off x="414338" y="2078106"/>
            <a:ext cx="3964781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7A28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Data Efficiency</a:t>
            </a:r>
            <a:endParaRPr lang="en-US" sz="750" dirty="0"/>
          </a:p>
        </p:txBody>
      </p:sp>
      <p:sp>
        <p:nvSpPr>
          <p:cNvPr id="15" name="Text 10"/>
          <p:cNvSpPr/>
          <p:nvPr/>
        </p:nvSpPr>
        <p:spPr>
          <a:xfrm>
            <a:off x="414338" y="2228124"/>
            <a:ext cx="396478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massive transaction data even when confirmed labels are limited.</a:t>
            </a:r>
            <a:endParaRPr lang="en-US" sz="750" dirty="0"/>
          </a:p>
        </p:txBody>
      </p:sp>
      <p:sp>
        <p:nvSpPr>
          <p:cNvPr id="16" name="Shape 11"/>
          <p:cNvSpPr/>
          <p:nvPr/>
        </p:nvSpPr>
        <p:spPr>
          <a:xfrm>
            <a:off x="328613" y="2485299"/>
            <a:ext cx="4136231" cy="40719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2"/>
          <p:cNvSpPr/>
          <p:nvPr/>
        </p:nvSpPr>
        <p:spPr>
          <a:xfrm>
            <a:off x="328613" y="2485299"/>
            <a:ext cx="28575" cy="407194"/>
          </a:xfrm>
          <a:prstGeom prst="rect">
            <a:avLst/>
          </a:prstGeom>
          <a:solidFill>
            <a:srgbClr val="7A28CB"/>
          </a:solidFill>
          <a:ln/>
        </p:spPr>
      </p:sp>
      <p:sp>
        <p:nvSpPr>
          <p:cNvPr id="18" name="Text 13"/>
          <p:cNvSpPr/>
          <p:nvPr/>
        </p:nvSpPr>
        <p:spPr>
          <a:xfrm>
            <a:off x="414338" y="2556737"/>
            <a:ext cx="3964781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7A28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Proactive Learning</a:t>
            </a:r>
            <a:endParaRPr lang="en-US" sz="750" dirty="0"/>
          </a:p>
        </p:txBody>
      </p:sp>
      <p:sp>
        <p:nvSpPr>
          <p:cNvPr id="19" name="Text 14"/>
          <p:cNvSpPr/>
          <p:nvPr/>
        </p:nvSpPr>
        <p:spPr>
          <a:xfrm>
            <a:off x="414338" y="2706756"/>
            <a:ext cx="396478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Learns structural behavior before delayed SAR confirmations arrive.</a:t>
            </a:r>
            <a:endParaRPr lang="en-US" sz="750" dirty="0"/>
          </a:p>
        </p:txBody>
      </p:sp>
      <p:sp>
        <p:nvSpPr>
          <p:cNvPr id="20" name="Shape 15"/>
          <p:cNvSpPr/>
          <p:nvPr/>
        </p:nvSpPr>
        <p:spPr>
          <a:xfrm>
            <a:off x="328613" y="2963931"/>
            <a:ext cx="4136231" cy="40719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6"/>
          <p:cNvSpPr/>
          <p:nvPr/>
        </p:nvSpPr>
        <p:spPr>
          <a:xfrm>
            <a:off x="328613" y="2963931"/>
            <a:ext cx="28575" cy="407194"/>
          </a:xfrm>
          <a:prstGeom prst="rect">
            <a:avLst/>
          </a:prstGeom>
          <a:solidFill>
            <a:srgbClr val="7A28CB"/>
          </a:solidFill>
          <a:ln/>
        </p:spPr>
      </p:sp>
      <p:sp>
        <p:nvSpPr>
          <p:cNvPr id="22" name="Text 17"/>
          <p:cNvSpPr/>
          <p:nvPr/>
        </p:nvSpPr>
        <p:spPr>
          <a:xfrm>
            <a:off x="414338" y="3035368"/>
            <a:ext cx="3964781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7A28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Rich Representations</a:t>
            </a:r>
            <a:endParaRPr lang="en-US" sz="750" dirty="0"/>
          </a:p>
        </p:txBody>
      </p:sp>
      <p:sp>
        <p:nvSpPr>
          <p:cNvPr id="23" name="Text 18"/>
          <p:cNvSpPr/>
          <p:nvPr/>
        </p:nvSpPr>
        <p:spPr>
          <a:xfrm>
            <a:off x="414338" y="3185387"/>
            <a:ext cx="396478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Learned embeddings support the final alert-triage stage.</a:t>
            </a:r>
            <a:endParaRPr lang="en-US" sz="75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9156" y="636854"/>
            <a:ext cx="178594" cy="142875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4929188" y="627924"/>
            <a:ext cx="1865747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Pretraining Mechanism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4679156" y="874384"/>
            <a:ext cx="4136231" cy="2143125"/>
          </a:xfrm>
          <a:prstGeom prst="rect">
            <a:avLst/>
          </a:prstGeom>
          <a:solidFill>
            <a:srgbClr val="FFFFFF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6318647" y="1154385"/>
            <a:ext cx="857250" cy="371475"/>
          </a:xfrm>
          <a:prstGeom prst="rect">
            <a:avLst/>
          </a:prstGeom>
          <a:solidFill>
            <a:srgbClr val="E5E7EB"/>
          </a:solidFill>
          <a:ln w="9144">
            <a:solidFill>
              <a:srgbClr val="1C2541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6318647" y="1154385"/>
            <a:ext cx="857250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 Graph</a:t>
            </a:r>
            <a:endParaRPr lang="en-US" sz="600" dirty="0"/>
          </a:p>
        </p:txBody>
      </p:sp>
      <p:sp>
        <p:nvSpPr>
          <p:cNvPr id="29" name="Shape 23"/>
          <p:cNvSpPr/>
          <p:nvPr/>
        </p:nvSpPr>
        <p:spPr>
          <a:xfrm>
            <a:off x="5552815" y="1600144"/>
            <a:ext cx="714375" cy="314325"/>
          </a:xfrm>
          <a:prstGeom prst="rect">
            <a:avLst/>
          </a:prstGeom>
          <a:solidFill>
            <a:srgbClr val="FFFFFF"/>
          </a:solidFill>
          <a:ln w="18288">
            <a:solidFill>
              <a:srgbClr val="00A8E8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5552815" y="1600144"/>
            <a:ext cx="71437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550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View 1</a:t>
            </a:r>
            <a:endParaRPr lang="en-US" sz="550" dirty="0"/>
          </a:p>
        </p:txBody>
      </p:sp>
      <p:sp>
        <p:nvSpPr>
          <p:cNvPr id="31" name="Shape 25"/>
          <p:cNvSpPr/>
          <p:nvPr/>
        </p:nvSpPr>
        <p:spPr>
          <a:xfrm>
            <a:off x="7227354" y="1600144"/>
            <a:ext cx="714375" cy="314325"/>
          </a:xfrm>
          <a:prstGeom prst="rect">
            <a:avLst/>
          </a:prstGeom>
          <a:solidFill>
            <a:srgbClr val="FFFFFF"/>
          </a:solidFill>
          <a:ln w="18288">
            <a:solidFill>
              <a:srgbClr val="00A8E8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7227354" y="1600144"/>
            <a:ext cx="71437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550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View 2</a:t>
            </a:r>
            <a:endParaRPr lang="en-US" sz="550" dirty="0"/>
          </a:p>
        </p:txBody>
      </p:sp>
      <p:sp>
        <p:nvSpPr>
          <p:cNvPr id="33" name="Shape 27"/>
          <p:cNvSpPr/>
          <p:nvPr/>
        </p:nvSpPr>
        <p:spPr>
          <a:xfrm>
            <a:off x="6175772" y="2114494"/>
            <a:ext cx="1143000" cy="314325"/>
          </a:xfrm>
          <a:prstGeom prst="rect">
            <a:avLst/>
          </a:prstGeom>
          <a:solidFill>
            <a:srgbClr val="7A28CB"/>
          </a:solidFill>
          <a:ln/>
        </p:spPr>
      </p:sp>
      <p:sp>
        <p:nvSpPr>
          <p:cNvPr id="34" name="Text 28"/>
          <p:cNvSpPr/>
          <p:nvPr/>
        </p:nvSpPr>
        <p:spPr>
          <a:xfrm>
            <a:off x="6175772" y="2114494"/>
            <a:ext cx="114300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GNN Encoder (InfoNCE)</a:t>
            </a:r>
            <a:endParaRPr lang="en-US" sz="600" dirty="0"/>
          </a:p>
        </p:txBody>
      </p:sp>
      <p:sp>
        <p:nvSpPr>
          <p:cNvPr id="35" name="Text 29"/>
          <p:cNvSpPr/>
          <p:nvPr/>
        </p:nvSpPr>
        <p:spPr>
          <a:xfrm>
            <a:off x="6351938" y="2423127"/>
            <a:ext cx="790668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Embeddings</a:t>
            </a:r>
            <a:endParaRPr lang="en-US" sz="600" dirty="0"/>
          </a:p>
        </p:txBody>
      </p:sp>
      <p:sp>
        <p:nvSpPr>
          <p:cNvPr id="36" name="Text 30"/>
          <p:cNvSpPr/>
          <p:nvPr/>
        </p:nvSpPr>
        <p:spPr>
          <a:xfrm>
            <a:off x="5220407" y="2803196"/>
            <a:ext cx="3053674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creates different views and trains GNN to preserve similarities.</a:t>
            </a:r>
            <a:endParaRPr lang="en-US" sz="650" dirty="0"/>
          </a:p>
        </p:txBody>
      </p:sp>
      <p:sp>
        <p:nvSpPr>
          <p:cNvPr id="37" name="Shape 31"/>
          <p:cNvSpPr/>
          <p:nvPr/>
        </p:nvSpPr>
        <p:spPr>
          <a:xfrm>
            <a:off x="328613" y="4275534"/>
            <a:ext cx="8486775" cy="539353"/>
          </a:xfrm>
          <a:prstGeom prst="rect">
            <a:avLst/>
          </a:prstGeom>
          <a:solidFill>
            <a:srgbClr val="1C2541"/>
          </a:solidFill>
          <a:ln/>
        </p:spPr>
      </p:sp>
      <p:sp>
        <p:nvSpPr>
          <p:cNvPr id="38" name="Text 32"/>
          <p:cNvSpPr/>
          <p:nvPr/>
        </p:nvSpPr>
        <p:spPr>
          <a:xfrm>
            <a:off x="428625" y="4375547"/>
            <a:ext cx="8286750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Technical Insight:</a:t>
            </a:r>
            <a:endParaRPr lang="en-US" sz="850" dirty="0"/>
          </a:p>
        </p:txBody>
      </p:sp>
      <p:sp>
        <p:nvSpPr>
          <p:cNvPr id="39" name="Text 33"/>
          <p:cNvSpPr/>
          <p:nvPr/>
        </p:nvSpPr>
        <p:spPr>
          <a:xfrm>
            <a:off x="428625" y="4564856"/>
            <a:ext cx="8286750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Transaction Structure First + Use Confirmed Labels Later</a:t>
            </a:r>
            <a:endParaRPr lang="en-US" sz="950" dirty="0"/>
          </a:p>
        </p:txBody>
      </p:sp>
      <p:sp>
        <p:nvSpPr>
          <p:cNvPr id="40" name="Text 34"/>
          <p:cNvSpPr/>
          <p:nvPr/>
        </p:nvSpPr>
        <p:spPr>
          <a:xfrm>
            <a:off x="8763260" y="4932759"/>
            <a:ext cx="180715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4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2643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Follow One Alert: From Transaction Network to Investigation Priority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285750" y="692944"/>
            <a:ext cx="8572500" cy="4164806"/>
          </a:xfrm>
          <a:prstGeom prst="rect">
            <a:avLst/>
          </a:prstGeom>
          <a:solidFill>
            <a:srgbClr val="F4F5F8"/>
          </a:solidFill>
          <a:ln/>
        </p:spPr>
      </p:sp>
      <p:sp>
        <p:nvSpPr>
          <p:cNvPr id="5" name="Shape 2"/>
          <p:cNvSpPr/>
          <p:nvPr/>
        </p:nvSpPr>
        <p:spPr>
          <a:xfrm>
            <a:off x="285750" y="692944"/>
            <a:ext cx="8572500" cy="28575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6" name="Shape 3"/>
          <p:cNvSpPr/>
          <p:nvPr/>
        </p:nvSpPr>
        <p:spPr>
          <a:xfrm>
            <a:off x="500063" y="907256"/>
            <a:ext cx="2424131" cy="1030709"/>
          </a:xfrm>
          <a:prstGeom prst="rect">
            <a:avLst/>
          </a:prstGeom>
          <a:solidFill>
            <a:srgbClr val="FFFFFF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07219" y="835819"/>
            <a:ext cx="171450" cy="171450"/>
          </a:xfrm>
          <a:prstGeom prst="ellipse">
            <a:avLst/>
          </a:prstGeom>
          <a:solidFill>
            <a:srgbClr val="00A8E8"/>
          </a:solidFill>
          <a:ln/>
        </p:spPr>
      </p:sp>
      <p:sp>
        <p:nvSpPr>
          <p:cNvPr id="8" name="Text 5"/>
          <p:cNvSpPr/>
          <p:nvPr/>
        </p:nvSpPr>
        <p:spPr>
          <a:xfrm>
            <a:off x="607219" y="835819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00" dirty="0"/>
          </a:p>
        </p:txBody>
      </p:sp>
      <p:sp>
        <p:nvSpPr>
          <p:cNvPr id="9" name="Text 6"/>
          <p:cNvSpPr/>
          <p:nvPr/>
        </p:nvSpPr>
        <p:spPr>
          <a:xfrm>
            <a:off x="607219" y="1014413"/>
            <a:ext cx="2200275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WORLD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07219" y="1218009"/>
            <a:ext cx="2200275" cy="4199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transactions are converted into a graph where accounts are nodes and transfers are directed edges.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607219" y="1652215"/>
            <a:ext cx="2200275" cy="178594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7A28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 Graph</a:t>
            </a:r>
            <a:endParaRPr lang="en-US" sz="6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7525" y="1336886"/>
            <a:ext cx="150019" cy="17145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350419" y="907256"/>
            <a:ext cx="2428875" cy="1030709"/>
          </a:xfrm>
          <a:prstGeom prst="rect">
            <a:avLst/>
          </a:prstGeom>
          <a:solidFill>
            <a:srgbClr val="FFFFFF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462319" y="835819"/>
            <a:ext cx="171450" cy="171450"/>
          </a:xfrm>
          <a:prstGeom prst="ellipse">
            <a:avLst/>
          </a:prstGeom>
          <a:solidFill>
            <a:srgbClr val="00A8E8"/>
          </a:solidFill>
          <a:ln/>
        </p:spPr>
      </p:sp>
      <p:sp>
        <p:nvSpPr>
          <p:cNvPr id="15" name="Text 11"/>
          <p:cNvSpPr/>
          <p:nvPr/>
        </p:nvSpPr>
        <p:spPr>
          <a:xfrm>
            <a:off x="3462319" y="835819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00" dirty="0"/>
          </a:p>
        </p:txBody>
      </p:sp>
      <p:sp>
        <p:nvSpPr>
          <p:cNvPr id="16" name="Text 12"/>
          <p:cNvSpPr/>
          <p:nvPr/>
        </p:nvSpPr>
        <p:spPr>
          <a:xfrm>
            <a:off x="3462319" y="1014413"/>
            <a:ext cx="2205019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STRUCTURE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3462319" y="1218009"/>
            <a:ext cx="2205019" cy="4199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Self-supervised GNN learns representations of network behavior without needing immediate labels.</a:t>
            </a:r>
            <a:endParaRPr lang="en-US" sz="750" dirty="0"/>
          </a:p>
        </p:txBody>
      </p:sp>
      <p:sp>
        <p:nvSpPr>
          <p:cNvPr id="18" name="Text 14"/>
          <p:cNvSpPr/>
          <p:nvPr/>
        </p:nvSpPr>
        <p:spPr>
          <a:xfrm>
            <a:off x="3462319" y="1652215"/>
            <a:ext cx="2205019" cy="178594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7A28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Contrastive Pretraining</a:t>
            </a:r>
            <a:endParaRPr lang="en-US" sz="6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7369" y="1336886"/>
            <a:ext cx="150019" cy="17145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6210263" y="907256"/>
            <a:ext cx="2433619" cy="1030709"/>
          </a:xfrm>
          <a:prstGeom prst="rect">
            <a:avLst/>
          </a:prstGeom>
          <a:solidFill>
            <a:srgbClr val="FFFFFF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327018" y="835819"/>
            <a:ext cx="171450" cy="171450"/>
          </a:xfrm>
          <a:prstGeom prst="ellipse">
            <a:avLst/>
          </a:prstGeom>
          <a:solidFill>
            <a:srgbClr val="00A8E8"/>
          </a:solidFill>
          <a:ln/>
        </p:spPr>
      </p:sp>
      <p:sp>
        <p:nvSpPr>
          <p:cNvPr id="22" name="Text 17"/>
          <p:cNvSpPr/>
          <p:nvPr/>
        </p:nvSpPr>
        <p:spPr>
          <a:xfrm>
            <a:off x="6327018" y="835819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00" dirty="0"/>
          </a:p>
        </p:txBody>
      </p:sp>
      <p:sp>
        <p:nvSpPr>
          <p:cNvPr id="23" name="Text 18"/>
          <p:cNvSpPr/>
          <p:nvPr/>
        </p:nvSpPr>
        <p:spPr>
          <a:xfrm>
            <a:off x="6327018" y="1014413"/>
            <a:ext cx="2209819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EVIDENCE</a:t>
            </a:r>
            <a:endParaRPr lang="en-US" sz="800" dirty="0"/>
          </a:p>
        </p:txBody>
      </p:sp>
      <p:sp>
        <p:nvSpPr>
          <p:cNvPr id="24" name="Text 19"/>
          <p:cNvSpPr/>
          <p:nvPr/>
        </p:nvSpPr>
        <p:spPr>
          <a:xfrm>
            <a:off x="6327018" y="1218009"/>
            <a:ext cx="2209819" cy="4199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GuiltyWalker captures structural proximity to known suspicious activity via bounded random walks.</a:t>
            </a:r>
            <a:endParaRPr lang="en-US" sz="750" dirty="0"/>
          </a:p>
        </p:txBody>
      </p:sp>
      <p:sp>
        <p:nvSpPr>
          <p:cNvPr id="25" name="Text 20"/>
          <p:cNvSpPr/>
          <p:nvPr/>
        </p:nvSpPr>
        <p:spPr>
          <a:xfrm>
            <a:off x="6327018" y="1637928"/>
            <a:ext cx="2209819" cy="178594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7A28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GuiltyWalker / Random Walks</a:t>
            </a:r>
            <a:endParaRPr lang="en-US" sz="600" dirty="0"/>
          </a:p>
        </p:txBody>
      </p:sp>
      <p:sp>
        <p:nvSpPr>
          <p:cNvPr id="26" name="Shape 21"/>
          <p:cNvSpPr/>
          <p:nvPr/>
        </p:nvSpPr>
        <p:spPr>
          <a:xfrm>
            <a:off x="500063" y="2209428"/>
            <a:ext cx="2419331" cy="1030709"/>
          </a:xfrm>
          <a:prstGeom prst="rect">
            <a:avLst/>
          </a:prstGeom>
          <a:solidFill>
            <a:srgbClr val="FFFFFF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607219" y="2137990"/>
            <a:ext cx="171450" cy="171450"/>
          </a:xfrm>
          <a:prstGeom prst="ellipse">
            <a:avLst/>
          </a:prstGeom>
          <a:solidFill>
            <a:srgbClr val="00A8E8"/>
          </a:solidFill>
          <a:ln/>
        </p:spPr>
      </p:sp>
      <p:sp>
        <p:nvSpPr>
          <p:cNvPr id="28" name="Text 23"/>
          <p:cNvSpPr/>
          <p:nvPr/>
        </p:nvSpPr>
        <p:spPr>
          <a:xfrm>
            <a:off x="607219" y="2137990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00" dirty="0"/>
          </a:p>
        </p:txBody>
      </p:sp>
      <p:sp>
        <p:nvSpPr>
          <p:cNvPr id="29" name="Text 24"/>
          <p:cNvSpPr/>
          <p:nvPr/>
        </p:nvSpPr>
        <p:spPr>
          <a:xfrm>
            <a:off x="607219" y="2316584"/>
            <a:ext cx="2195531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CLUES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607219" y="2520181"/>
            <a:ext cx="2195531" cy="2799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Explicit topological features (cycles, fan-in/out) are extracted to complement learned patterns.</a:t>
            </a:r>
            <a:endParaRPr lang="en-US" sz="750" dirty="0"/>
          </a:p>
        </p:txBody>
      </p:sp>
      <p:sp>
        <p:nvSpPr>
          <p:cNvPr id="31" name="Text 26"/>
          <p:cNvSpPr/>
          <p:nvPr/>
        </p:nvSpPr>
        <p:spPr>
          <a:xfrm>
            <a:off x="607219" y="2954387"/>
            <a:ext cx="2195531" cy="178594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7A28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Topological Feature Engineering</a:t>
            </a:r>
            <a:endParaRPr lang="en-US" sz="600" dirty="0"/>
          </a:p>
        </p:txBody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2781" y="2639058"/>
            <a:ext cx="150019" cy="171450"/>
          </a:xfrm>
          <a:prstGeom prst="rect">
            <a:avLst/>
          </a:prstGeom>
        </p:spPr>
      </p:pic>
      <p:sp>
        <p:nvSpPr>
          <p:cNvPr id="33" name="Shape 27"/>
          <p:cNvSpPr/>
          <p:nvPr/>
        </p:nvSpPr>
        <p:spPr>
          <a:xfrm>
            <a:off x="3345675" y="2209428"/>
            <a:ext cx="2424131" cy="1030709"/>
          </a:xfrm>
          <a:prstGeom prst="rect">
            <a:avLst/>
          </a:prstGeom>
          <a:solidFill>
            <a:srgbClr val="FFFFFF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3457575" y="2137990"/>
            <a:ext cx="171450" cy="171450"/>
          </a:xfrm>
          <a:prstGeom prst="ellipse">
            <a:avLst/>
          </a:prstGeom>
          <a:solidFill>
            <a:srgbClr val="00A8E8"/>
          </a:solidFill>
          <a:ln/>
        </p:spPr>
      </p:sp>
      <p:sp>
        <p:nvSpPr>
          <p:cNvPr id="35" name="Text 29"/>
          <p:cNvSpPr/>
          <p:nvPr/>
        </p:nvSpPr>
        <p:spPr>
          <a:xfrm>
            <a:off x="3457575" y="2137990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600" dirty="0"/>
          </a:p>
        </p:txBody>
      </p:sp>
      <p:sp>
        <p:nvSpPr>
          <p:cNvPr id="36" name="Text 30"/>
          <p:cNvSpPr/>
          <p:nvPr/>
        </p:nvSpPr>
        <p:spPr>
          <a:xfrm>
            <a:off x="3457575" y="2316584"/>
            <a:ext cx="2200275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 SIGNALS</a:t>
            </a:r>
            <a:endParaRPr lang="en-US" sz="800" dirty="0"/>
          </a:p>
        </p:txBody>
      </p:sp>
      <p:sp>
        <p:nvSpPr>
          <p:cNvPr id="37" name="Text 31"/>
          <p:cNvSpPr/>
          <p:nvPr/>
        </p:nvSpPr>
        <p:spPr>
          <a:xfrm>
            <a:off x="3457575" y="2520181"/>
            <a:ext cx="2200275" cy="4199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Learned embeddings, topological clues, and GuiltyWalker signals are fused into a single representation.</a:t>
            </a:r>
            <a:endParaRPr lang="en-US" sz="750" dirty="0"/>
          </a:p>
        </p:txBody>
      </p:sp>
      <p:sp>
        <p:nvSpPr>
          <p:cNvPr id="38" name="Text 32"/>
          <p:cNvSpPr/>
          <p:nvPr/>
        </p:nvSpPr>
        <p:spPr>
          <a:xfrm>
            <a:off x="3457575" y="2940100"/>
            <a:ext cx="2200275" cy="178594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7A28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Fusion</a:t>
            </a:r>
            <a:endParaRPr lang="en-US" sz="600" dirty="0"/>
          </a:p>
        </p:txBody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7881" y="2631914"/>
            <a:ext cx="150019" cy="171450"/>
          </a:xfrm>
          <a:prstGeom prst="rect">
            <a:avLst/>
          </a:prstGeom>
        </p:spPr>
      </p:pic>
      <p:sp>
        <p:nvSpPr>
          <p:cNvPr id="40" name="Shape 33"/>
          <p:cNvSpPr/>
          <p:nvPr/>
        </p:nvSpPr>
        <p:spPr>
          <a:xfrm>
            <a:off x="6200775" y="2209428"/>
            <a:ext cx="2443163" cy="1016422"/>
          </a:xfrm>
          <a:prstGeom prst="rect">
            <a:avLst/>
          </a:prstGeom>
          <a:solidFill>
            <a:srgbClr val="FFFFFF"/>
          </a:solidFill>
          <a:ln w="18288">
            <a:solidFill>
              <a:srgbClr val="00A8E8"/>
            </a:solidFill>
            <a:prstDash val="solid"/>
          </a:ln>
        </p:spPr>
      </p:sp>
      <p:sp>
        <p:nvSpPr>
          <p:cNvPr id="41" name="Shape 34"/>
          <p:cNvSpPr/>
          <p:nvPr/>
        </p:nvSpPr>
        <p:spPr>
          <a:xfrm>
            <a:off x="6327018" y="2137990"/>
            <a:ext cx="171450" cy="171450"/>
          </a:xfrm>
          <a:prstGeom prst="ellipse">
            <a:avLst/>
          </a:prstGeom>
          <a:solidFill>
            <a:srgbClr val="00A8E8"/>
          </a:solidFill>
          <a:ln/>
        </p:spPr>
      </p:sp>
      <p:sp>
        <p:nvSpPr>
          <p:cNvPr id="42" name="Text 35"/>
          <p:cNvSpPr/>
          <p:nvPr/>
        </p:nvSpPr>
        <p:spPr>
          <a:xfrm>
            <a:off x="6327018" y="2137990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600" dirty="0"/>
          </a:p>
        </p:txBody>
      </p:sp>
      <p:sp>
        <p:nvSpPr>
          <p:cNvPr id="43" name="Text 36"/>
          <p:cNvSpPr/>
          <p:nvPr/>
        </p:nvSpPr>
        <p:spPr>
          <a:xfrm>
            <a:off x="6327018" y="2316584"/>
            <a:ext cx="2209819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TRIAGE OUTPUT</a:t>
            </a:r>
            <a:endParaRPr lang="en-US" sz="800" dirty="0"/>
          </a:p>
        </p:txBody>
      </p:sp>
      <p:sp>
        <p:nvSpPr>
          <p:cNvPr id="44" name="Text 37"/>
          <p:cNvSpPr/>
          <p:nvPr/>
        </p:nvSpPr>
        <p:spPr>
          <a:xfrm>
            <a:off x="6327018" y="2520181"/>
            <a:ext cx="2209819" cy="2799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final model produces a Risk Score and ranks the alert in the investigator's queue.</a:t>
            </a:r>
            <a:endParaRPr lang="en-US" sz="750" dirty="0"/>
          </a:p>
        </p:txBody>
      </p:sp>
      <p:sp>
        <p:nvSpPr>
          <p:cNvPr id="45" name="Text 38"/>
          <p:cNvSpPr/>
          <p:nvPr/>
        </p:nvSpPr>
        <p:spPr>
          <a:xfrm>
            <a:off x="6327018" y="2940100"/>
            <a:ext cx="2209819" cy="178594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7A28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Ranked Investigation Queue</a:t>
            </a:r>
            <a:endParaRPr lang="en-US" sz="600" dirty="0"/>
          </a:p>
        </p:txBody>
      </p:sp>
      <p:sp>
        <p:nvSpPr>
          <p:cNvPr id="46" name="Shape 39"/>
          <p:cNvSpPr/>
          <p:nvPr/>
        </p:nvSpPr>
        <p:spPr>
          <a:xfrm>
            <a:off x="500063" y="3511600"/>
            <a:ext cx="2619356" cy="496491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7" name="Text 40"/>
          <p:cNvSpPr/>
          <p:nvPr/>
        </p:nvSpPr>
        <p:spPr>
          <a:xfrm>
            <a:off x="607219" y="3618756"/>
            <a:ext cx="240504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MODEL LEARNS</a:t>
            </a:r>
            <a:endParaRPr lang="en-US" sz="700" dirty="0"/>
          </a:p>
        </p:txBody>
      </p:sp>
      <p:sp>
        <p:nvSpPr>
          <p:cNvPr id="48" name="Text 41"/>
          <p:cNvSpPr/>
          <p:nvPr/>
        </p:nvSpPr>
        <p:spPr>
          <a:xfrm>
            <a:off x="607219" y="3768775"/>
            <a:ext cx="2405044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Representation</a:t>
            </a:r>
            <a:endParaRPr lang="en-US" sz="850" dirty="0"/>
          </a:p>
        </p:txBody>
      </p:sp>
      <p:sp>
        <p:nvSpPr>
          <p:cNvPr id="49" name="Shape 42"/>
          <p:cNvSpPr/>
          <p:nvPr/>
        </p:nvSpPr>
        <p:spPr>
          <a:xfrm>
            <a:off x="3262294" y="3511600"/>
            <a:ext cx="2619356" cy="496491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0" name="Text 43"/>
          <p:cNvSpPr/>
          <p:nvPr/>
        </p:nvSpPr>
        <p:spPr>
          <a:xfrm>
            <a:off x="3369450" y="3618756"/>
            <a:ext cx="240504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NETWORK SHOWS</a:t>
            </a:r>
            <a:endParaRPr lang="en-US" sz="700" dirty="0"/>
          </a:p>
        </p:txBody>
      </p:sp>
      <p:sp>
        <p:nvSpPr>
          <p:cNvPr id="51" name="Text 44"/>
          <p:cNvSpPr/>
          <p:nvPr/>
        </p:nvSpPr>
        <p:spPr>
          <a:xfrm>
            <a:off x="3369450" y="3768775"/>
            <a:ext cx="2405044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Topological Evidence</a:t>
            </a:r>
            <a:endParaRPr lang="en-US" sz="850" dirty="0"/>
          </a:p>
        </p:txBody>
      </p:sp>
      <p:sp>
        <p:nvSpPr>
          <p:cNvPr id="52" name="Shape 45"/>
          <p:cNvSpPr/>
          <p:nvPr/>
        </p:nvSpPr>
        <p:spPr>
          <a:xfrm>
            <a:off x="6024525" y="3511600"/>
            <a:ext cx="2619356" cy="496491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3" name="Text 46"/>
          <p:cNvSpPr/>
          <p:nvPr/>
        </p:nvSpPr>
        <p:spPr>
          <a:xfrm>
            <a:off x="6131682" y="3618756"/>
            <a:ext cx="240504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CONFIRMED CASES PROVIDE</a:t>
            </a:r>
            <a:endParaRPr lang="en-US" sz="700" dirty="0"/>
          </a:p>
        </p:txBody>
      </p:sp>
      <p:sp>
        <p:nvSpPr>
          <p:cNvPr id="54" name="Text 47"/>
          <p:cNvSpPr/>
          <p:nvPr/>
        </p:nvSpPr>
        <p:spPr>
          <a:xfrm>
            <a:off x="6131682" y="3768775"/>
            <a:ext cx="2405044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Delayed Supervised Signal</a:t>
            </a:r>
            <a:endParaRPr lang="en-US" sz="850" dirty="0"/>
          </a:p>
        </p:txBody>
      </p:sp>
      <p:sp>
        <p:nvSpPr>
          <p:cNvPr id="55" name="Shape 48"/>
          <p:cNvSpPr/>
          <p:nvPr/>
        </p:nvSpPr>
        <p:spPr>
          <a:xfrm>
            <a:off x="500063" y="4296966"/>
            <a:ext cx="8143875" cy="346472"/>
          </a:xfrm>
          <a:prstGeom prst="rect">
            <a:avLst/>
          </a:prstGeom>
          <a:solidFill>
            <a:srgbClr val="1C2541"/>
          </a:solidFill>
          <a:ln/>
        </p:spPr>
      </p:sp>
      <p:sp>
        <p:nvSpPr>
          <p:cNvPr id="56" name="Text 49"/>
          <p:cNvSpPr/>
          <p:nvPr/>
        </p:nvSpPr>
        <p:spPr>
          <a:xfrm>
            <a:off x="500063" y="4296966"/>
            <a:ext cx="8143875" cy="346472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Outcome:</a:t>
            </a: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prioritized queue that supports human investigation, not an automatic legal judgment.</a:t>
            </a:r>
            <a:endParaRPr lang="en-US" sz="850" dirty="0"/>
          </a:p>
        </p:txBody>
      </p:sp>
      <p:sp>
        <p:nvSpPr>
          <p:cNvPr id="57" name="Text 50"/>
          <p:cNvSpPr/>
          <p:nvPr/>
        </p:nvSpPr>
        <p:spPr>
          <a:xfrm>
            <a:off x="8663639" y="4886325"/>
            <a:ext cx="19461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4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2643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Stress-Testing the Idea: What Could Make It Stronger?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285750" y="692944"/>
            <a:ext cx="8572500" cy="4164806"/>
          </a:xfrm>
          <a:prstGeom prst="rect">
            <a:avLst/>
          </a:prstGeom>
          <a:solidFill>
            <a:srgbClr val="F4F5F8"/>
          </a:solidFill>
          <a:ln/>
        </p:spPr>
      </p:sp>
      <p:sp>
        <p:nvSpPr>
          <p:cNvPr id="5" name="Shape 2"/>
          <p:cNvSpPr/>
          <p:nvPr/>
        </p:nvSpPr>
        <p:spPr>
          <a:xfrm>
            <a:off x="285750" y="692944"/>
            <a:ext cx="8572500" cy="28575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6" name="Shape 3"/>
          <p:cNvSpPr/>
          <p:nvPr/>
        </p:nvSpPr>
        <p:spPr>
          <a:xfrm>
            <a:off x="464344" y="871538"/>
            <a:ext cx="4036219" cy="1587698"/>
          </a:xfrm>
          <a:prstGeom prst="rect">
            <a:avLst/>
          </a:prstGeom>
          <a:solidFill>
            <a:srgbClr val="FFFFFF"/>
          </a:solidFill>
          <a:ln w="9144">
            <a:solidFill>
              <a:srgbClr val="D1D5DB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987623"/>
            <a:ext cx="114300" cy="1143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2950" y="978694"/>
            <a:ext cx="1619510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Evolving Laundering Patterns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571500" y="1182291"/>
            <a:ext cx="3821906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INTERESTING QUESTION</a:t>
            </a:r>
            <a:endParaRPr lang="en-US" sz="550" dirty="0"/>
          </a:p>
        </p:txBody>
      </p:sp>
      <p:sp>
        <p:nvSpPr>
          <p:cNvPr id="10" name="Text 6"/>
          <p:cNvSpPr/>
          <p:nvPr/>
        </p:nvSpPr>
        <p:spPr>
          <a:xfrm>
            <a:off x="571500" y="1289447"/>
            <a:ext cx="3821906" cy="1299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if a new strategy produces a graph pattern not common in the training data?</a:t>
            </a:r>
            <a:endParaRPr lang="en-US" sz="750" dirty="0"/>
          </a:p>
        </p:txBody>
      </p:sp>
      <p:sp>
        <p:nvSpPr>
          <p:cNvPr id="11" name="Text 7"/>
          <p:cNvSpPr/>
          <p:nvPr/>
        </p:nvSpPr>
        <p:spPr>
          <a:xfrm>
            <a:off x="571500" y="1476580"/>
            <a:ext cx="3821906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550" dirty="0"/>
          </a:p>
        </p:txBody>
      </p:sp>
      <p:sp>
        <p:nvSpPr>
          <p:cNvPr id="12" name="Text 8"/>
          <p:cNvSpPr/>
          <p:nvPr/>
        </p:nvSpPr>
        <p:spPr>
          <a:xfrm>
            <a:off x="571500" y="1583736"/>
            <a:ext cx="3821906" cy="2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Laundering behavior evolves; new patterns may not resemble historical confirmed cases.</a:t>
            </a:r>
            <a:endParaRPr lang="en-US" sz="750" dirty="0"/>
          </a:p>
        </p:txBody>
      </p:sp>
      <p:sp>
        <p:nvSpPr>
          <p:cNvPr id="13" name="Shape 9"/>
          <p:cNvSpPr/>
          <p:nvPr/>
        </p:nvSpPr>
        <p:spPr>
          <a:xfrm>
            <a:off x="571500" y="2127052"/>
            <a:ext cx="3821906" cy="225028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14" name="Shape 10"/>
          <p:cNvSpPr/>
          <p:nvPr/>
        </p:nvSpPr>
        <p:spPr>
          <a:xfrm>
            <a:off x="571500" y="2127052"/>
            <a:ext cx="21431" cy="225028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15" name="Text 11"/>
          <p:cNvSpPr/>
          <p:nvPr/>
        </p:nvSpPr>
        <p:spPr>
          <a:xfrm>
            <a:off x="571500" y="2127052"/>
            <a:ext cx="3821906" cy="225028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t">
            <a:spAutoFit/>
          </a:bodyPr>
          <a:lstStyle/>
          <a:p>
            <a:pPr algn="l" indent="0" marL="0">
              <a:buNone/>
            </a:pPr>
            <a:r>
              <a:rPr lang="en-US" sz="650" b="1" i="1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Extension:</a:t>
            </a:r>
            <a:r>
              <a:rPr lang="en-US" sz="650" i="1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Evaluate generalization to unseen graph structures or distribution shifts.</a:t>
            </a:r>
            <a:endParaRPr lang="en-US" sz="650" dirty="0"/>
          </a:p>
        </p:txBody>
      </p:sp>
      <p:sp>
        <p:nvSpPr>
          <p:cNvPr id="16" name="Shape 12"/>
          <p:cNvSpPr/>
          <p:nvPr/>
        </p:nvSpPr>
        <p:spPr>
          <a:xfrm>
            <a:off x="4643438" y="871538"/>
            <a:ext cx="4036219" cy="1587698"/>
          </a:xfrm>
          <a:prstGeom prst="rect">
            <a:avLst/>
          </a:prstGeom>
          <a:solidFill>
            <a:srgbClr val="FFFFFF"/>
          </a:solidFill>
          <a:ln w="9144">
            <a:solidFill>
              <a:srgbClr val="D1D5DB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0594" y="987623"/>
            <a:ext cx="114300" cy="1143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922044" y="978694"/>
            <a:ext cx="1321426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Risk Scores</a:t>
            </a:r>
            <a:endParaRPr lang="en-US" sz="800" dirty="0"/>
          </a:p>
        </p:txBody>
      </p:sp>
      <p:sp>
        <p:nvSpPr>
          <p:cNvPr id="19" name="Text 14"/>
          <p:cNvSpPr/>
          <p:nvPr/>
        </p:nvSpPr>
        <p:spPr>
          <a:xfrm>
            <a:off x="4750594" y="1182291"/>
            <a:ext cx="3821906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INTERESTING QUESTION</a:t>
            </a:r>
            <a:endParaRPr lang="en-US" sz="550" dirty="0"/>
          </a:p>
        </p:txBody>
      </p:sp>
      <p:sp>
        <p:nvSpPr>
          <p:cNvPr id="20" name="Text 15"/>
          <p:cNvSpPr/>
          <p:nvPr/>
        </p:nvSpPr>
        <p:spPr>
          <a:xfrm>
            <a:off x="4750594" y="1289447"/>
            <a:ext cx="3821906" cy="1299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risk score alone enough for an investigator to understand the priority?</a:t>
            </a:r>
            <a:endParaRPr lang="en-US" sz="750" dirty="0"/>
          </a:p>
        </p:txBody>
      </p:sp>
      <p:sp>
        <p:nvSpPr>
          <p:cNvPr id="21" name="Text 16"/>
          <p:cNvSpPr/>
          <p:nvPr/>
        </p:nvSpPr>
        <p:spPr>
          <a:xfrm>
            <a:off x="4750594" y="1476580"/>
            <a:ext cx="3821906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550" dirty="0"/>
          </a:p>
        </p:txBody>
      </p:sp>
      <p:sp>
        <p:nvSpPr>
          <p:cNvPr id="22" name="Text 17"/>
          <p:cNvSpPr/>
          <p:nvPr/>
        </p:nvSpPr>
        <p:spPr>
          <a:xfrm>
            <a:off x="4750594" y="1583736"/>
            <a:ext cx="3821906" cy="1299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investigation requires understandable evidence behind a decision.</a:t>
            </a:r>
            <a:endParaRPr lang="en-US" sz="750" dirty="0"/>
          </a:p>
        </p:txBody>
      </p:sp>
      <p:sp>
        <p:nvSpPr>
          <p:cNvPr id="23" name="Shape 18"/>
          <p:cNvSpPr/>
          <p:nvPr/>
        </p:nvSpPr>
        <p:spPr>
          <a:xfrm>
            <a:off x="4750594" y="2016323"/>
            <a:ext cx="3821906" cy="335756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24" name="Shape 19"/>
          <p:cNvSpPr/>
          <p:nvPr/>
        </p:nvSpPr>
        <p:spPr>
          <a:xfrm>
            <a:off x="4750594" y="2016323"/>
            <a:ext cx="21431" cy="335756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25" name="Text 20"/>
          <p:cNvSpPr/>
          <p:nvPr/>
        </p:nvSpPr>
        <p:spPr>
          <a:xfrm>
            <a:off x="4750594" y="2016323"/>
            <a:ext cx="3821906" cy="335756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t">
            <a:spAutoFit/>
          </a:bodyPr>
          <a:lstStyle/>
          <a:p>
            <a:pPr algn="l" indent="0" marL="0">
              <a:buNone/>
            </a:pPr>
            <a:r>
              <a:rPr lang="en-US" sz="650" b="1" i="1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Extension:</a:t>
            </a:r>
            <a:r>
              <a:rPr lang="en-US" sz="650" i="1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Add an explanation layer showing which paths or signals contributed most to </a:t>
            </a:r>
            <a:r>
              <a:rPr lang="en-US" sz="650" i="1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risk.</a:t>
            </a:r>
            <a:endParaRPr lang="en-US" sz="650" dirty="0"/>
          </a:p>
        </p:txBody>
      </p:sp>
      <p:sp>
        <p:nvSpPr>
          <p:cNvPr id="26" name="Shape 21"/>
          <p:cNvSpPr/>
          <p:nvPr/>
        </p:nvSpPr>
        <p:spPr>
          <a:xfrm>
            <a:off x="464344" y="2602111"/>
            <a:ext cx="4036219" cy="1587698"/>
          </a:xfrm>
          <a:prstGeom prst="rect">
            <a:avLst/>
          </a:prstGeom>
          <a:solidFill>
            <a:srgbClr val="FFFFFF"/>
          </a:solidFill>
          <a:ln w="9144">
            <a:solidFill>
              <a:srgbClr val="D1D5DB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718197"/>
            <a:ext cx="85725" cy="11430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14375" y="2709267"/>
            <a:ext cx="1473622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Network Changes</a:t>
            </a:r>
            <a:endParaRPr lang="en-US" sz="800" dirty="0"/>
          </a:p>
        </p:txBody>
      </p:sp>
      <p:sp>
        <p:nvSpPr>
          <p:cNvPr id="29" name="Text 23"/>
          <p:cNvSpPr/>
          <p:nvPr/>
        </p:nvSpPr>
        <p:spPr>
          <a:xfrm>
            <a:off x="571500" y="2912864"/>
            <a:ext cx="3821906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INTERESTING QUESTION</a:t>
            </a:r>
            <a:endParaRPr lang="en-US" sz="550" dirty="0"/>
          </a:p>
        </p:txBody>
      </p:sp>
      <p:sp>
        <p:nvSpPr>
          <p:cNvPr id="30" name="Text 24"/>
          <p:cNvSpPr/>
          <p:nvPr/>
        </p:nvSpPr>
        <p:spPr>
          <a:xfrm>
            <a:off x="571500" y="3020020"/>
            <a:ext cx="3821906" cy="1299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when new transactions continuously change network relationships?</a:t>
            </a:r>
            <a:endParaRPr lang="en-US" sz="750" dirty="0"/>
          </a:p>
        </p:txBody>
      </p:sp>
      <p:sp>
        <p:nvSpPr>
          <p:cNvPr id="31" name="Text 25"/>
          <p:cNvSpPr/>
          <p:nvPr/>
        </p:nvSpPr>
        <p:spPr>
          <a:xfrm>
            <a:off x="571500" y="3207153"/>
            <a:ext cx="3821906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550" dirty="0"/>
          </a:p>
        </p:txBody>
      </p:sp>
      <p:sp>
        <p:nvSpPr>
          <p:cNvPr id="32" name="Text 26"/>
          <p:cNvSpPr/>
          <p:nvPr/>
        </p:nvSpPr>
        <p:spPr>
          <a:xfrm>
            <a:off x="571500" y="3314309"/>
            <a:ext cx="3821906" cy="1299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networks are dynamic; risk ranking must stay sensitive to recent behavior.</a:t>
            </a:r>
            <a:endParaRPr lang="en-US" sz="750" dirty="0"/>
          </a:p>
        </p:txBody>
      </p:sp>
      <p:sp>
        <p:nvSpPr>
          <p:cNvPr id="33" name="Shape 27"/>
          <p:cNvSpPr/>
          <p:nvPr/>
        </p:nvSpPr>
        <p:spPr>
          <a:xfrm>
            <a:off x="571500" y="3746897"/>
            <a:ext cx="3821906" cy="335756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34" name="Shape 28"/>
          <p:cNvSpPr/>
          <p:nvPr/>
        </p:nvSpPr>
        <p:spPr>
          <a:xfrm>
            <a:off x="571500" y="3746897"/>
            <a:ext cx="21431" cy="335756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35" name="Text 29"/>
          <p:cNvSpPr/>
          <p:nvPr/>
        </p:nvSpPr>
        <p:spPr>
          <a:xfrm>
            <a:off x="571500" y="3746897"/>
            <a:ext cx="3821906" cy="335756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t">
            <a:spAutoFit/>
          </a:bodyPr>
          <a:lstStyle/>
          <a:p>
            <a:pPr algn="l" indent="0" marL="0">
              <a:buNone/>
            </a:pPr>
            <a:r>
              <a:rPr lang="en-US" sz="650" b="1" i="1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Extension:</a:t>
            </a:r>
            <a:r>
              <a:rPr lang="en-US" sz="650" i="1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Explore incremental graph learning to update representations without full re-</a:t>
            </a:r>
            <a:r>
              <a:rPr lang="en-US" sz="650" i="1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training.</a:t>
            </a:r>
            <a:endParaRPr lang="en-US" sz="650" dirty="0"/>
          </a:p>
        </p:txBody>
      </p:sp>
      <p:sp>
        <p:nvSpPr>
          <p:cNvPr id="36" name="Shape 30"/>
          <p:cNvSpPr/>
          <p:nvPr/>
        </p:nvSpPr>
        <p:spPr>
          <a:xfrm>
            <a:off x="4643438" y="2602111"/>
            <a:ext cx="4036219" cy="1587698"/>
          </a:xfrm>
          <a:prstGeom prst="rect">
            <a:avLst/>
          </a:prstGeom>
          <a:solidFill>
            <a:srgbClr val="FFFFFF"/>
          </a:solidFill>
          <a:ln w="9144">
            <a:solidFill>
              <a:srgbClr val="D1D5DB"/>
            </a:solidFill>
            <a:prstDash val="solid"/>
          </a:ln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0594" y="2718197"/>
            <a:ext cx="100013" cy="114300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4907756" y="2709267"/>
            <a:ext cx="1289726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Large-Scale Practicality</a:t>
            </a:r>
            <a:endParaRPr lang="en-US" sz="800" dirty="0"/>
          </a:p>
        </p:txBody>
      </p:sp>
      <p:sp>
        <p:nvSpPr>
          <p:cNvPr id="39" name="Text 32"/>
          <p:cNvSpPr/>
          <p:nvPr/>
        </p:nvSpPr>
        <p:spPr>
          <a:xfrm>
            <a:off x="4750594" y="2912864"/>
            <a:ext cx="3821906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INTERESTING QUESTION</a:t>
            </a:r>
            <a:endParaRPr lang="en-US" sz="550" dirty="0"/>
          </a:p>
        </p:txBody>
      </p:sp>
      <p:sp>
        <p:nvSpPr>
          <p:cNvPr id="40" name="Text 33"/>
          <p:cNvSpPr/>
          <p:nvPr/>
        </p:nvSpPr>
        <p:spPr>
          <a:xfrm>
            <a:off x="4750594" y="3020020"/>
            <a:ext cx="3821906" cy="2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the approach remain practical when the transaction network becomes extremely large?</a:t>
            </a:r>
            <a:endParaRPr lang="en-US" sz="750" dirty="0"/>
          </a:p>
        </p:txBody>
      </p:sp>
      <p:sp>
        <p:nvSpPr>
          <p:cNvPr id="41" name="Text 34"/>
          <p:cNvSpPr/>
          <p:nvPr/>
        </p:nvSpPr>
        <p:spPr>
          <a:xfrm>
            <a:off x="4750594" y="3337136"/>
            <a:ext cx="3821906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550" dirty="0"/>
          </a:p>
        </p:txBody>
      </p:sp>
      <p:sp>
        <p:nvSpPr>
          <p:cNvPr id="42" name="Text 35"/>
          <p:cNvSpPr/>
          <p:nvPr/>
        </p:nvSpPr>
        <p:spPr>
          <a:xfrm>
            <a:off x="4750594" y="3444292"/>
            <a:ext cx="3821906" cy="1299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institutions have millions of accounts; graph processing can be demanding.</a:t>
            </a:r>
            <a:endParaRPr lang="en-US" sz="750" dirty="0"/>
          </a:p>
        </p:txBody>
      </p:sp>
      <p:sp>
        <p:nvSpPr>
          <p:cNvPr id="43" name="Shape 36"/>
          <p:cNvSpPr/>
          <p:nvPr/>
        </p:nvSpPr>
        <p:spPr>
          <a:xfrm>
            <a:off x="4750594" y="3746897"/>
            <a:ext cx="3821906" cy="335756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44" name="Shape 37"/>
          <p:cNvSpPr/>
          <p:nvPr/>
        </p:nvSpPr>
        <p:spPr>
          <a:xfrm>
            <a:off x="4750594" y="3746897"/>
            <a:ext cx="21431" cy="335756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45" name="Text 38"/>
          <p:cNvSpPr/>
          <p:nvPr/>
        </p:nvSpPr>
        <p:spPr>
          <a:xfrm>
            <a:off x="4750594" y="3746897"/>
            <a:ext cx="3821906" cy="335756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t">
            <a:spAutoFit/>
          </a:bodyPr>
          <a:lstStyle/>
          <a:p>
            <a:pPr algn="l" indent="0" marL="0">
              <a:buNone/>
            </a:pPr>
            <a:r>
              <a:rPr lang="en-US" sz="650" b="1" i="1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Extension:</a:t>
            </a:r>
            <a:r>
              <a:rPr lang="en-US" sz="650" i="1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Investigate efficient subgraph sampling or selective neighborhood </a:t>
            </a:r>
            <a:r>
              <a:rPr lang="en-US" sz="650" i="1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processing.</a:t>
            </a:r>
            <a:endParaRPr lang="en-US" sz="650" dirty="0"/>
          </a:p>
        </p:txBody>
      </p:sp>
      <p:sp>
        <p:nvSpPr>
          <p:cNvPr id="46" name="Shape 39"/>
          <p:cNvSpPr/>
          <p:nvPr/>
        </p:nvSpPr>
        <p:spPr>
          <a:xfrm>
            <a:off x="464344" y="4332684"/>
            <a:ext cx="8215313" cy="346472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47" name="Text 40"/>
          <p:cNvSpPr/>
          <p:nvPr/>
        </p:nvSpPr>
        <p:spPr>
          <a:xfrm>
            <a:off x="464344" y="4332684"/>
            <a:ext cx="8215313" cy="346472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Constructive Conclusion:</a:t>
            </a: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These extensions would assess how well the representation adapts to emerging behavior and maintains utility at scale.</a:t>
            </a:r>
            <a:endParaRPr lang="en-US" sz="850" dirty="0"/>
          </a:p>
        </p:txBody>
      </p:sp>
      <p:sp>
        <p:nvSpPr>
          <p:cNvPr id="48" name="Text 41"/>
          <p:cNvSpPr/>
          <p:nvPr/>
        </p:nvSpPr>
        <p:spPr>
          <a:xfrm>
            <a:off x="8663639" y="4886325"/>
            <a:ext cx="19461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2643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What Does ForenChain Actually Prove?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285750" y="692944"/>
            <a:ext cx="8572500" cy="4164806"/>
          </a:xfrm>
          <a:prstGeom prst="rect">
            <a:avLst/>
          </a:prstGeom>
          <a:solidFill>
            <a:srgbClr val="F4F5F8"/>
          </a:solidFill>
          <a:ln/>
        </p:spPr>
      </p:sp>
      <p:sp>
        <p:nvSpPr>
          <p:cNvPr id="5" name="Shape 2"/>
          <p:cNvSpPr/>
          <p:nvPr/>
        </p:nvSpPr>
        <p:spPr>
          <a:xfrm>
            <a:off x="285750" y="692944"/>
            <a:ext cx="8572500" cy="28575"/>
          </a:xfrm>
          <a:prstGeom prst="rect">
            <a:avLst/>
          </a:prstGeom>
          <a:solidFill>
            <a:srgbClr val="00A8E8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63" y="917972"/>
            <a:ext cx="157163" cy="1571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28663" y="907256"/>
            <a:ext cx="1949797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7B3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CAN ESTABLISH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500063" y="1314450"/>
            <a:ext cx="3929063" cy="676424"/>
          </a:xfrm>
          <a:prstGeom prst="rect">
            <a:avLst/>
          </a:prstGeom>
          <a:solidFill>
            <a:srgbClr val="FFFFFF"/>
          </a:solidFill>
          <a:ln w="9144">
            <a:solidFill>
              <a:srgbClr val="D1D5DB"/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219" y="1430536"/>
            <a:ext cx="114300" cy="1143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78669" y="1421606"/>
            <a:ext cx="679549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7B3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Integrity</a:t>
            </a:r>
            <a:endParaRPr lang="en-US" sz="800" dirty="0"/>
          </a:p>
        </p:txBody>
      </p:sp>
      <p:sp>
        <p:nvSpPr>
          <p:cNvPr id="11" name="Text 6"/>
          <p:cNvSpPr/>
          <p:nvPr/>
        </p:nvSpPr>
        <p:spPr>
          <a:xfrm>
            <a:off x="607219" y="1589484"/>
            <a:ext cx="3714750" cy="2799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current evidence can be compared with its recorded SHA-256 fingerprint to detect any changes.</a:t>
            </a:r>
            <a:endParaRPr lang="en-US" sz="750" dirty="0"/>
          </a:p>
        </p:txBody>
      </p:sp>
      <p:sp>
        <p:nvSpPr>
          <p:cNvPr id="12" name="Shape 7"/>
          <p:cNvSpPr/>
          <p:nvPr/>
        </p:nvSpPr>
        <p:spPr>
          <a:xfrm>
            <a:off x="500063" y="2083743"/>
            <a:ext cx="3929063" cy="676424"/>
          </a:xfrm>
          <a:prstGeom prst="rect">
            <a:avLst/>
          </a:prstGeom>
          <a:solidFill>
            <a:srgbClr val="FFFFFF"/>
          </a:solidFill>
          <a:ln w="9144">
            <a:solidFill>
              <a:srgbClr val="D1D5DB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219" y="2199829"/>
            <a:ext cx="114300" cy="1143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78669" y="2190899"/>
            <a:ext cx="952742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7B3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Recorded History</a:t>
            </a:r>
            <a:endParaRPr lang="en-US" sz="800" dirty="0"/>
          </a:p>
        </p:txBody>
      </p:sp>
      <p:sp>
        <p:nvSpPr>
          <p:cNvPr id="15" name="Text 9"/>
          <p:cNvSpPr/>
          <p:nvPr/>
        </p:nvSpPr>
        <p:spPr>
          <a:xfrm>
            <a:off x="607219" y="2358777"/>
            <a:ext cx="3714750" cy="2799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Custody actions are associated with immutable timestamps and blockchain transactions.</a:t>
            </a:r>
            <a:endParaRPr lang="en-US" sz="750" dirty="0"/>
          </a:p>
        </p:txBody>
      </p:sp>
      <p:sp>
        <p:nvSpPr>
          <p:cNvPr id="16" name="Shape 10"/>
          <p:cNvSpPr/>
          <p:nvPr/>
        </p:nvSpPr>
        <p:spPr>
          <a:xfrm>
            <a:off x="500063" y="2853035"/>
            <a:ext cx="3929063" cy="676424"/>
          </a:xfrm>
          <a:prstGeom prst="rect">
            <a:avLst/>
          </a:prstGeom>
          <a:solidFill>
            <a:srgbClr val="FFFFFF"/>
          </a:solidFill>
          <a:ln w="9144">
            <a:solidFill>
              <a:srgbClr val="D1D5DB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219" y="2969121"/>
            <a:ext cx="114300" cy="1143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78669" y="2960191"/>
            <a:ext cx="628985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7B3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Traceability</a:t>
            </a:r>
            <a:endParaRPr lang="en-US" sz="800" dirty="0"/>
          </a:p>
        </p:txBody>
      </p:sp>
      <p:sp>
        <p:nvSpPr>
          <p:cNvPr id="19" name="Text 12"/>
          <p:cNvSpPr/>
          <p:nvPr/>
        </p:nvSpPr>
        <p:spPr>
          <a:xfrm>
            <a:off x="607219" y="3128070"/>
            <a:ext cx="3714750" cy="2799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 maintains a chronological record of all registered custody events in the workflow.</a:t>
            </a:r>
            <a:endParaRPr lang="en-US" sz="75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4875" y="917972"/>
            <a:ext cx="157163" cy="157163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4943475" y="907256"/>
            <a:ext cx="3460589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28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 NOT AUTOMATICALLY PROVE</a:t>
            </a:r>
            <a:endParaRPr lang="en-US" sz="1100" dirty="0"/>
          </a:p>
        </p:txBody>
      </p:sp>
      <p:sp>
        <p:nvSpPr>
          <p:cNvPr id="22" name="Shape 14"/>
          <p:cNvSpPr/>
          <p:nvPr/>
        </p:nvSpPr>
        <p:spPr>
          <a:xfrm>
            <a:off x="4714875" y="1314450"/>
            <a:ext cx="3929063" cy="676424"/>
          </a:xfrm>
          <a:prstGeom prst="rect">
            <a:avLst/>
          </a:prstGeom>
          <a:solidFill>
            <a:srgbClr val="FFFFFF"/>
          </a:solidFill>
          <a:ln w="9144">
            <a:solidFill>
              <a:srgbClr val="D1D5DB"/>
            </a:solidFill>
            <a:prstDash val="solid"/>
          </a:ln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2031" y="1430536"/>
            <a:ext cx="114300" cy="11430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4993481" y="1421606"/>
            <a:ext cx="895480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7A28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Capture</a:t>
            </a:r>
            <a:endParaRPr lang="en-US" sz="800" dirty="0"/>
          </a:p>
        </p:txBody>
      </p:sp>
      <p:sp>
        <p:nvSpPr>
          <p:cNvPr id="25" name="Text 16"/>
          <p:cNvSpPr/>
          <p:nvPr/>
        </p:nvSpPr>
        <p:spPr>
          <a:xfrm>
            <a:off x="4822031" y="1589484"/>
            <a:ext cx="3714750" cy="2799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matching hash doesn't prove the first registered file was the genuine original from the scene.</a:t>
            </a:r>
            <a:endParaRPr lang="en-US" sz="750" dirty="0"/>
          </a:p>
        </p:txBody>
      </p:sp>
      <p:sp>
        <p:nvSpPr>
          <p:cNvPr id="26" name="Shape 17"/>
          <p:cNvSpPr/>
          <p:nvPr/>
        </p:nvSpPr>
        <p:spPr>
          <a:xfrm>
            <a:off x="4714875" y="2083743"/>
            <a:ext cx="3929063" cy="676424"/>
          </a:xfrm>
          <a:prstGeom prst="rect">
            <a:avLst/>
          </a:prstGeom>
          <a:solidFill>
            <a:srgbClr val="FFFFFF"/>
          </a:solidFill>
          <a:ln w="9144">
            <a:solidFill>
              <a:srgbClr val="D1D5DB"/>
            </a:solidFill>
            <a:prstDash val="solid"/>
          </a:ln>
        </p:spPr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22031" y="2199829"/>
            <a:ext cx="114300" cy="114300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4993481" y="2190899"/>
            <a:ext cx="1117550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7A28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Off-Chain Protection</a:t>
            </a:r>
            <a:endParaRPr lang="en-US" sz="800" dirty="0"/>
          </a:p>
        </p:txBody>
      </p:sp>
      <p:sp>
        <p:nvSpPr>
          <p:cNvPr id="29" name="Text 19"/>
          <p:cNvSpPr/>
          <p:nvPr/>
        </p:nvSpPr>
        <p:spPr>
          <a:xfrm>
            <a:off x="4822031" y="2358777"/>
            <a:ext cx="3714750" cy="2799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Recording a hash doesn't protect the actual evidence file stored outside the blockchain.</a:t>
            </a:r>
            <a:endParaRPr lang="en-US" sz="750" dirty="0"/>
          </a:p>
        </p:txBody>
      </p:sp>
      <p:sp>
        <p:nvSpPr>
          <p:cNvPr id="30" name="Shape 20"/>
          <p:cNvSpPr/>
          <p:nvPr/>
        </p:nvSpPr>
        <p:spPr>
          <a:xfrm>
            <a:off x="4714875" y="2853035"/>
            <a:ext cx="3929063" cy="676424"/>
          </a:xfrm>
          <a:prstGeom prst="rect">
            <a:avLst/>
          </a:prstGeom>
          <a:solidFill>
            <a:srgbClr val="FFFFFF"/>
          </a:solidFill>
          <a:ln w="9144">
            <a:solidFill>
              <a:srgbClr val="D1D5DB"/>
            </a:solidFill>
            <a:prstDash val="solid"/>
          </a:ln>
        </p:spPr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22031" y="2969121"/>
            <a:ext cx="142875" cy="114300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5022056" y="2960191"/>
            <a:ext cx="1035286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7A28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Legitimacy</a:t>
            </a:r>
            <a:endParaRPr lang="en-US" sz="800" dirty="0"/>
          </a:p>
        </p:txBody>
      </p:sp>
      <p:sp>
        <p:nvSpPr>
          <p:cNvPr id="33" name="Text 22"/>
          <p:cNvSpPr/>
          <p:nvPr/>
        </p:nvSpPr>
        <p:spPr>
          <a:xfrm>
            <a:off x="4822031" y="3128070"/>
            <a:ext cx="3714750" cy="2799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Recording an identity doesn't automatically prove that the person was authorized for that role.</a:t>
            </a:r>
            <a:endParaRPr lang="en-US" sz="750" dirty="0"/>
          </a:p>
        </p:txBody>
      </p:sp>
      <p:sp>
        <p:nvSpPr>
          <p:cNvPr id="34" name="Shape 23"/>
          <p:cNvSpPr/>
          <p:nvPr/>
        </p:nvSpPr>
        <p:spPr>
          <a:xfrm>
            <a:off x="500063" y="4207669"/>
            <a:ext cx="8143875" cy="435769"/>
          </a:xfrm>
          <a:prstGeom prst="rect">
            <a:avLst/>
          </a:prstGeom>
          <a:solidFill>
            <a:srgbClr val="1C2541"/>
          </a:solidFill>
          <a:ln/>
        </p:spPr>
      </p:sp>
      <p:sp>
        <p:nvSpPr>
          <p:cNvPr id="35" name="Shape 24"/>
          <p:cNvSpPr/>
          <p:nvPr/>
        </p:nvSpPr>
        <p:spPr>
          <a:xfrm>
            <a:off x="500063" y="4207669"/>
            <a:ext cx="42863" cy="435769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36" name="Text 25"/>
          <p:cNvSpPr/>
          <p:nvPr/>
        </p:nvSpPr>
        <p:spPr>
          <a:xfrm>
            <a:off x="500063" y="4207669"/>
            <a:ext cx="8143875" cy="435769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Blockchain can preserve the recorded history of evidence — but trust also depends on what happens before and outside the blockchain.</a:t>
            </a:r>
            <a:endParaRPr lang="en-US" sz="950" dirty="0"/>
          </a:p>
        </p:txBody>
      </p:sp>
      <p:sp>
        <p:nvSpPr>
          <p:cNvPr id="37" name="Text 26"/>
          <p:cNvSpPr/>
          <p:nvPr/>
        </p:nvSpPr>
        <p:spPr>
          <a:xfrm>
            <a:off x="8663639" y="4886325"/>
            <a:ext cx="19461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8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2643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Where Does the Chain of Trust Become Stronger?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285750" y="692944"/>
            <a:ext cx="8572500" cy="4164806"/>
          </a:xfrm>
          <a:prstGeom prst="rect">
            <a:avLst/>
          </a:prstGeom>
          <a:solidFill>
            <a:srgbClr val="F4F5F8"/>
          </a:solidFill>
          <a:ln/>
        </p:spPr>
      </p:sp>
      <p:sp>
        <p:nvSpPr>
          <p:cNvPr id="5" name="Shape 2"/>
          <p:cNvSpPr/>
          <p:nvPr/>
        </p:nvSpPr>
        <p:spPr>
          <a:xfrm>
            <a:off x="285750" y="692944"/>
            <a:ext cx="8572500" cy="28575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6" name="Shape 3"/>
          <p:cNvSpPr/>
          <p:nvPr/>
        </p:nvSpPr>
        <p:spPr>
          <a:xfrm>
            <a:off x="821531" y="1239441"/>
            <a:ext cx="7500938" cy="1428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7" name="Shape 4"/>
          <p:cNvSpPr/>
          <p:nvPr/>
        </p:nvSpPr>
        <p:spPr>
          <a:xfrm>
            <a:off x="678656" y="1014413"/>
            <a:ext cx="285750" cy="285750"/>
          </a:xfrm>
          <a:prstGeom prst="ellipse">
            <a:avLst/>
          </a:prstGeom>
          <a:solidFill>
            <a:srgbClr val="FFFFFF"/>
          </a:solidFill>
          <a:ln w="18288">
            <a:solidFill>
              <a:srgbClr val="00A8E8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311" y="1092994"/>
            <a:ext cx="96441" cy="12858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4344" y="1371600"/>
            <a:ext cx="714375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CRIME SCENE</a:t>
            </a:r>
            <a:endParaRPr lang="en-US" sz="550" dirty="0"/>
          </a:p>
        </p:txBody>
      </p:sp>
      <p:sp>
        <p:nvSpPr>
          <p:cNvPr id="10" name="Shape 6"/>
          <p:cNvSpPr/>
          <p:nvPr/>
        </p:nvSpPr>
        <p:spPr>
          <a:xfrm>
            <a:off x="2178844" y="1014413"/>
            <a:ext cx="285750" cy="285750"/>
          </a:xfrm>
          <a:prstGeom prst="ellipse">
            <a:avLst/>
          </a:prstGeom>
          <a:solidFill>
            <a:srgbClr val="FFFFFF"/>
          </a:solidFill>
          <a:ln w="18288">
            <a:solidFill>
              <a:srgbClr val="00A8E8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7425" y="1092994"/>
            <a:ext cx="128588" cy="12858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964531" y="1371600"/>
            <a:ext cx="714375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</a:t>
            </a:r>
            <a:endParaRPr lang="en-US" sz="550" dirty="0"/>
          </a:p>
        </p:txBody>
      </p:sp>
      <p:sp>
        <p:nvSpPr>
          <p:cNvPr id="13" name="Shape 8"/>
          <p:cNvSpPr/>
          <p:nvPr/>
        </p:nvSpPr>
        <p:spPr>
          <a:xfrm>
            <a:off x="3679031" y="1014413"/>
            <a:ext cx="285750" cy="285750"/>
          </a:xfrm>
          <a:prstGeom prst="ellipse">
            <a:avLst/>
          </a:prstGeom>
          <a:solidFill>
            <a:srgbClr val="FFFFFF"/>
          </a:solidFill>
          <a:ln w="18288">
            <a:solidFill>
              <a:srgbClr val="00A8E8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1539" y="1092994"/>
            <a:ext cx="160734" cy="12858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3464719" y="1371600"/>
            <a:ext cx="714375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REGISTRATION</a:t>
            </a:r>
            <a:endParaRPr lang="en-US" sz="550" dirty="0"/>
          </a:p>
        </p:txBody>
      </p:sp>
      <p:sp>
        <p:nvSpPr>
          <p:cNvPr id="16" name="Shape 10"/>
          <p:cNvSpPr/>
          <p:nvPr/>
        </p:nvSpPr>
        <p:spPr>
          <a:xfrm>
            <a:off x="5179219" y="1014413"/>
            <a:ext cx="285750" cy="285750"/>
          </a:xfrm>
          <a:prstGeom prst="ellipse">
            <a:avLst/>
          </a:prstGeom>
          <a:solidFill>
            <a:srgbClr val="FFFFFF"/>
          </a:solidFill>
          <a:ln w="18288">
            <a:solidFill>
              <a:srgbClr val="00A8E8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64944" y="1092994"/>
            <a:ext cx="114300" cy="12858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964906" y="1371600"/>
            <a:ext cx="714375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</a:t>
            </a:r>
            <a:endParaRPr lang="en-US" sz="550" dirty="0"/>
          </a:p>
        </p:txBody>
      </p:sp>
      <p:sp>
        <p:nvSpPr>
          <p:cNvPr id="19" name="Shape 12"/>
          <p:cNvSpPr/>
          <p:nvPr/>
        </p:nvSpPr>
        <p:spPr>
          <a:xfrm>
            <a:off x="6679406" y="1014413"/>
            <a:ext cx="285750" cy="285750"/>
          </a:xfrm>
          <a:prstGeom prst="ellipse">
            <a:avLst/>
          </a:prstGeom>
          <a:solidFill>
            <a:srgbClr val="FFFFFF"/>
          </a:solidFill>
          <a:ln w="18288">
            <a:solidFill>
              <a:srgbClr val="00A8E8"/>
            </a:solidFill>
            <a:prstDash val="solid"/>
          </a:ln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7988" y="1092994"/>
            <a:ext cx="128588" cy="12858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465094" y="1371600"/>
            <a:ext cx="714375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CUSTODY</a:t>
            </a:r>
            <a:endParaRPr lang="en-US" sz="550" dirty="0"/>
          </a:p>
        </p:txBody>
      </p:sp>
      <p:sp>
        <p:nvSpPr>
          <p:cNvPr id="22" name="Shape 14"/>
          <p:cNvSpPr/>
          <p:nvPr/>
        </p:nvSpPr>
        <p:spPr>
          <a:xfrm>
            <a:off x="8179594" y="1014413"/>
            <a:ext cx="285750" cy="285750"/>
          </a:xfrm>
          <a:prstGeom prst="ellipse">
            <a:avLst/>
          </a:prstGeom>
          <a:solidFill>
            <a:srgbClr val="FFFFFF"/>
          </a:solidFill>
          <a:ln w="18288">
            <a:solidFill>
              <a:srgbClr val="00A8E8"/>
            </a:solidFill>
            <a:prstDash val="solid"/>
          </a:ln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58175" y="1092994"/>
            <a:ext cx="128588" cy="128588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7965281" y="1371600"/>
            <a:ext cx="714375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</a:t>
            </a:r>
            <a:endParaRPr lang="en-US" sz="550" dirty="0"/>
          </a:p>
        </p:txBody>
      </p:sp>
      <p:sp>
        <p:nvSpPr>
          <p:cNvPr id="25" name="Shape 16"/>
          <p:cNvSpPr/>
          <p:nvPr/>
        </p:nvSpPr>
        <p:spPr>
          <a:xfrm>
            <a:off x="464344" y="1821656"/>
            <a:ext cx="4036219" cy="1357313"/>
          </a:xfrm>
          <a:prstGeom prst="rect">
            <a:avLst/>
          </a:prstGeom>
          <a:solidFill>
            <a:srgbClr val="FFFFFF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26" name="Text 17"/>
          <p:cNvSpPr/>
          <p:nvPr/>
        </p:nvSpPr>
        <p:spPr>
          <a:xfrm>
            <a:off x="571500" y="1928813"/>
            <a:ext cx="3821906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BEFORE REGISTRATION</a:t>
            </a:r>
            <a:endParaRPr lang="en-US" sz="750" dirty="0"/>
          </a:p>
        </p:txBody>
      </p:sp>
      <p:sp>
        <p:nvSpPr>
          <p:cNvPr id="27" name="Text 18"/>
          <p:cNvSpPr/>
          <p:nvPr/>
        </p:nvSpPr>
        <p:spPr>
          <a:xfrm>
            <a:off x="571500" y="2107406"/>
            <a:ext cx="382190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i="1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if the evidence was already altered before its first hash?"</a:t>
            </a:r>
            <a:endParaRPr lang="en-US" sz="700" dirty="0"/>
          </a:p>
        </p:txBody>
      </p:sp>
      <p:sp>
        <p:nvSpPr>
          <p:cNvPr id="28" name="Text 19"/>
          <p:cNvSpPr/>
          <p:nvPr/>
        </p:nvSpPr>
        <p:spPr>
          <a:xfrm>
            <a:off x="571500" y="2257425"/>
            <a:ext cx="3821906" cy="2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SHA-256 detects later changes, but cannot independently prove the first registered file was the untouched original.</a:t>
            </a:r>
            <a:endParaRPr lang="en-US" sz="650" dirty="0"/>
          </a:p>
        </p:txBody>
      </p:sp>
      <p:sp>
        <p:nvSpPr>
          <p:cNvPr id="29" name="Shape 20"/>
          <p:cNvSpPr/>
          <p:nvPr/>
        </p:nvSpPr>
        <p:spPr>
          <a:xfrm>
            <a:off x="571500" y="2900363"/>
            <a:ext cx="3821906" cy="17145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30" name="Shape 21"/>
          <p:cNvSpPr/>
          <p:nvPr/>
        </p:nvSpPr>
        <p:spPr>
          <a:xfrm>
            <a:off x="571500" y="2900363"/>
            <a:ext cx="21431" cy="171450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31" name="Text 22"/>
          <p:cNvSpPr/>
          <p:nvPr/>
        </p:nvSpPr>
        <p:spPr>
          <a:xfrm>
            <a:off x="571500" y="2900363"/>
            <a:ext cx="3821906" cy="171450"/>
          </a:xfrm>
          <a:prstGeom prst="rect">
            <a:avLst/>
          </a:prstGeom>
          <a:noFill/>
          <a:ln/>
        </p:spPr>
        <p:txBody>
          <a:bodyPr wrap="square" lIns="68072" tIns="42545" rIns="68072" bIns="42545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Extension: Trusted acquisition procedures &amp; metadata.</a:t>
            </a:r>
            <a:endParaRPr lang="en-US" sz="600" dirty="0"/>
          </a:p>
        </p:txBody>
      </p:sp>
      <p:sp>
        <p:nvSpPr>
          <p:cNvPr id="32" name="Shape 23"/>
          <p:cNvSpPr/>
          <p:nvPr/>
        </p:nvSpPr>
        <p:spPr>
          <a:xfrm>
            <a:off x="4643438" y="1821656"/>
            <a:ext cx="4036219" cy="1357313"/>
          </a:xfrm>
          <a:prstGeom prst="rect">
            <a:avLst/>
          </a:prstGeom>
          <a:solidFill>
            <a:srgbClr val="FFFFFF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33" name="Text 24"/>
          <p:cNvSpPr/>
          <p:nvPr/>
        </p:nvSpPr>
        <p:spPr>
          <a:xfrm>
            <a:off x="4750594" y="1928813"/>
            <a:ext cx="3821906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DURING STORAGE</a:t>
            </a:r>
            <a:endParaRPr lang="en-US" sz="750" dirty="0"/>
          </a:p>
        </p:txBody>
      </p:sp>
      <p:sp>
        <p:nvSpPr>
          <p:cNvPr id="34" name="Text 25"/>
          <p:cNvSpPr/>
          <p:nvPr/>
        </p:nvSpPr>
        <p:spPr>
          <a:xfrm>
            <a:off x="4750594" y="2107406"/>
            <a:ext cx="382190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i="1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protects the actual file while blockchain protects its fingerprint?"</a:t>
            </a:r>
            <a:endParaRPr lang="en-US" sz="700" dirty="0"/>
          </a:p>
        </p:txBody>
      </p:sp>
      <p:sp>
        <p:nvSpPr>
          <p:cNvPr id="35" name="Text 26"/>
          <p:cNvSpPr/>
          <p:nvPr/>
        </p:nvSpPr>
        <p:spPr>
          <a:xfrm>
            <a:off x="4750594" y="2257425"/>
            <a:ext cx="3821906" cy="2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blockchain records the hash, while the actual evidence remains off-chain in external storage.</a:t>
            </a:r>
            <a:endParaRPr lang="en-US" sz="650" dirty="0"/>
          </a:p>
        </p:txBody>
      </p:sp>
      <p:sp>
        <p:nvSpPr>
          <p:cNvPr id="36" name="Shape 27"/>
          <p:cNvSpPr/>
          <p:nvPr/>
        </p:nvSpPr>
        <p:spPr>
          <a:xfrm>
            <a:off x="4750594" y="2893219"/>
            <a:ext cx="3821906" cy="17145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37" name="Shape 28"/>
          <p:cNvSpPr/>
          <p:nvPr/>
        </p:nvSpPr>
        <p:spPr>
          <a:xfrm>
            <a:off x="4750594" y="2893219"/>
            <a:ext cx="21431" cy="171450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38" name="Text 29"/>
          <p:cNvSpPr/>
          <p:nvPr/>
        </p:nvSpPr>
        <p:spPr>
          <a:xfrm>
            <a:off x="4750594" y="2893219"/>
            <a:ext cx="3821906" cy="171450"/>
          </a:xfrm>
          <a:prstGeom prst="rect">
            <a:avLst/>
          </a:prstGeom>
          <a:noFill/>
          <a:ln/>
        </p:spPr>
        <p:txBody>
          <a:bodyPr wrap="square" lIns="68072" tIns="42545" rIns="68072" bIns="42545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Extension: Encrypted storage &amp; secure key management.</a:t>
            </a:r>
            <a:endParaRPr lang="en-US" sz="600" dirty="0"/>
          </a:p>
        </p:txBody>
      </p:sp>
      <p:sp>
        <p:nvSpPr>
          <p:cNvPr id="39" name="Shape 30"/>
          <p:cNvSpPr/>
          <p:nvPr/>
        </p:nvSpPr>
        <p:spPr>
          <a:xfrm>
            <a:off x="464344" y="3314700"/>
            <a:ext cx="4036219" cy="1364456"/>
          </a:xfrm>
          <a:prstGeom prst="rect">
            <a:avLst/>
          </a:prstGeom>
          <a:solidFill>
            <a:srgbClr val="FFFFFF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40" name="Text 31"/>
          <p:cNvSpPr/>
          <p:nvPr/>
        </p:nvSpPr>
        <p:spPr>
          <a:xfrm>
            <a:off x="571500" y="3421856"/>
            <a:ext cx="3821906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DURING CUSTODY TRANSFER</a:t>
            </a:r>
            <a:endParaRPr lang="en-US" sz="750" dirty="0"/>
          </a:p>
        </p:txBody>
      </p:sp>
      <p:sp>
        <p:nvSpPr>
          <p:cNvPr id="41" name="Text 32"/>
          <p:cNvSpPr/>
          <p:nvPr/>
        </p:nvSpPr>
        <p:spPr>
          <a:xfrm>
            <a:off x="571500" y="3600450"/>
            <a:ext cx="382190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i="1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"Who is actually allowed to record the next custody step?"</a:t>
            </a:r>
            <a:endParaRPr lang="en-US" sz="700" dirty="0"/>
          </a:p>
        </p:txBody>
      </p:sp>
      <p:sp>
        <p:nvSpPr>
          <p:cNvPr id="42" name="Text 33"/>
          <p:cNvSpPr/>
          <p:nvPr/>
        </p:nvSpPr>
        <p:spPr>
          <a:xfrm>
            <a:off x="571500" y="3750469"/>
            <a:ext cx="3821906" cy="2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Immutability protects recorded events, while authorization determines who can create those events.</a:t>
            </a:r>
            <a:endParaRPr lang="en-US" sz="650" dirty="0"/>
          </a:p>
        </p:txBody>
      </p:sp>
      <p:sp>
        <p:nvSpPr>
          <p:cNvPr id="43" name="Shape 34"/>
          <p:cNvSpPr/>
          <p:nvPr/>
        </p:nvSpPr>
        <p:spPr>
          <a:xfrm>
            <a:off x="571500" y="4400550"/>
            <a:ext cx="3821906" cy="17145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44" name="Shape 35"/>
          <p:cNvSpPr/>
          <p:nvPr/>
        </p:nvSpPr>
        <p:spPr>
          <a:xfrm>
            <a:off x="571500" y="4400550"/>
            <a:ext cx="21431" cy="171450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45" name="Text 36"/>
          <p:cNvSpPr/>
          <p:nvPr/>
        </p:nvSpPr>
        <p:spPr>
          <a:xfrm>
            <a:off x="571500" y="4400550"/>
            <a:ext cx="3821906" cy="171450"/>
          </a:xfrm>
          <a:prstGeom prst="rect">
            <a:avLst/>
          </a:prstGeom>
          <a:noFill/>
          <a:ln/>
        </p:spPr>
        <p:txBody>
          <a:bodyPr wrap="square" lIns="68072" tIns="42545" rIns="68072" bIns="42545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Extension: Role-based permissions &amp; identity verification.</a:t>
            </a:r>
            <a:endParaRPr lang="en-US" sz="600" dirty="0"/>
          </a:p>
        </p:txBody>
      </p:sp>
      <p:sp>
        <p:nvSpPr>
          <p:cNvPr id="46" name="Shape 37"/>
          <p:cNvSpPr/>
          <p:nvPr/>
        </p:nvSpPr>
        <p:spPr>
          <a:xfrm>
            <a:off x="4643438" y="3314700"/>
            <a:ext cx="4036219" cy="1364456"/>
          </a:xfrm>
          <a:prstGeom prst="rect">
            <a:avLst/>
          </a:prstGeom>
          <a:solidFill>
            <a:srgbClr val="FFFFFF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47" name="Text 38"/>
          <p:cNvSpPr/>
          <p:nvPr/>
        </p:nvSpPr>
        <p:spPr>
          <a:xfrm>
            <a:off x="4750594" y="3429000"/>
            <a:ext cx="3821906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ACROSS ORGANIZATIONS</a:t>
            </a:r>
            <a:endParaRPr lang="en-US" sz="750" dirty="0"/>
          </a:p>
        </p:txBody>
      </p:sp>
      <p:sp>
        <p:nvSpPr>
          <p:cNvPr id="48" name="Text 39"/>
          <p:cNvSpPr/>
          <p:nvPr/>
        </p:nvSpPr>
        <p:spPr>
          <a:xfrm>
            <a:off x="4750594" y="3607594"/>
            <a:ext cx="382190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i="1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happens when evidence moves between different organizations?"</a:t>
            </a:r>
            <a:endParaRPr lang="en-US" sz="700" dirty="0"/>
          </a:p>
        </p:txBody>
      </p:sp>
      <p:sp>
        <p:nvSpPr>
          <p:cNvPr id="49" name="Text 40"/>
          <p:cNvSpPr/>
          <p:nvPr/>
        </p:nvSpPr>
        <p:spPr>
          <a:xfrm>
            <a:off x="4750594" y="3757613"/>
            <a:ext cx="3821906" cy="2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local prototype may need additional governance when multiple forensic organizations participate.</a:t>
            </a:r>
            <a:endParaRPr lang="en-US" sz="650" dirty="0"/>
          </a:p>
        </p:txBody>
      </p:sp>
      <p:sp>
        <p:nvSpPr>
          <p:cNvPr id="50" name="Shape 41"/>
          <p:cNvSpPr/>
          <p:nvPr/>
        </p:nvSpPr>
        <p:spPr>
          <a:xfrm>
            <a:off x="4750594" y="4400550"/>
            <a:ext cx="3821906" cy="17145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51" name="Shape 42"/>
          <p:cNvSpPr/>
          <p:nvPr/>
        </p:nvSpPr>
        <p:spPr>
          <a:xfrm>
            <a:off x="4750594" y="4400550"/>
            <a:ext cx="21431" cy="171450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52" name="Text 43"/>
          <p:cNvSpPr/>
          <p:nvPr/>
        </p:nvSpPr>
        <p:spPr>
          <a:xfrm>
            <a:off x="4750594" y="4400550"/>
            <a:ext cx="3821906" cy="171450"/>
          </a:xfrm>
          <a:prstGeom prst="rect">
            <a:avLst/>
          </a:prstGeom>
          <a:noFill/>
          <a:ln/>
        </p:spPr>
        <p:txBody>
          <a:bodyPr wrap="square" lIns="68072" tIns="42545" rIns="68072" bIns="42545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Extension: Permissioned multi-organization blockchain.</a:t>
            </a:r>
            <a:endParaRPr lang="en-US" sz="600" dirty="0"/>
          </a:p>
        </p:txBody>
      </p:sp>
      <p:sp>
        <p:nvSpPr>
          <p:cNvPr id="53" name="Text 44"/>
          <p:cNvSpPr/>
          <p:nvPr/>
        </p:nvSpPr>
        <p:spPr>
          <a:xfrm>
            <a:off x="8663639" y="4886325"/>
            <a:ext cx="19461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8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2643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Natural Next Questions for ForenChain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285750" y="692944"/>
            <a:ext cx="8572500" cy="4164806"/>
          </a:xfrm>
          <a:prstGeom prst="rect">
            <a:avLst/>
          </a:prstGeom>
          <a:solidFill>
            <a:srgbClr val="F4F5F8"/>
          </a:solidFill>
          <a:ln/>
        </p:spPr>
      </p:sp>
      <p:sp>
        <p:nvSpPr>
          <p:cNvPr id="5" name="Shape 2"/>
          <p:cNvSpPr/>
          <p:nvPr/>
        </p:nvSpPr>
        <p:spPr>
          <a:xfrm>
            <a:off x="285750" y="692944"/>
            <a:ext cx="8572500" cy="28575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6" name="Shape 3"/>
          <p:cNvSpPr/>
          <p:nvPr/>
        </p:nvSpPr>
        <p:spPr>
          <a:xfrm>
            <a:off x="500063" y="907256"/>
            <a:ext cx="3982641" cy="1778794"/>
          </a:xfrm>
          <a:prstGeom prst="rect">
            <a:avLst/>
          </a:prstGeom>
          <a:solidFill>
            <a:srgbClr val="FFFFFF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2938" y="1050131"/>
            <a:ext cx="369689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7A28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SIGNATURES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642938" y="1250156"/>
            <a:ext cx="3696891" cy="315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"How can the system strengthen confidence in WHO created or transferred an evidence record?"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642938" y="2143125"/>
            <a:ext cx="3696891" cy="400050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signatures could connect important actions with a verifiable identity for stronger accountability.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4661297" y="907256"/>
            <a:ext cx="3982641" cy="1778794"/>
          </a:xfrm>
          <a:prstGeom prst="rect">
            <a:avLst/>
          </a:prstGeom>
          <a:solidFill>
            <a:srgbClr val="FFFFFF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04172" y="1050131"/>
            <a:ext cx="369689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7A28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ACCESS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4804172" y="1250156"/>
            <a:ext cx="3696891" cy="315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"Should every participant be able to access every part of the evidence workflow?"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4804172" y="2143125"/>
            <a:ext cx="3696891" cy="400050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participants could have controlled permissions for registration, transfer, and verification.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500063" y="2864644"/>
            <a:ext cx="3982641" cy="1778794"/>
          </a:xfrm>
          <a:prstGeom prst="rect">
            <a:avLst/>
          </a:prstGeom>
          <a:solidFill>
            <a:srgbClr val="FFFFFF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2938" y="3007519"/>
            <a:ext cx="369689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7A28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DISTRIBUTED STORAGE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642938" y="3207544"/>
            <a:ext cx="3696891" cy="315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happens when the actual evidence file needs to remain available across multiple locations?"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642938" y="4100513"/>
            <a:ext cx="3696891" cy="400050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 like IPFS could complement the blockchain record while keeping large files off-chain.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4661297" y="2864644"/>
            <a:ext cx="3982641" cy="1778794"/>
          </a:xfrm>
          <a:prstGeom prst="rect">
            <a:avLst/>
          </a:prstGeom>
          <a:solidFill>
            <a:srgbClr val="FFFFFF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04172" y="3007519"/>
            <a:ext cx="369689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7A28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MULTI-ORGANIZATION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4804172" y="3207544"/>
            <a:ext cx="3696891" cy="315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"Can investigators, labs, and archival departments share one trusted custody history?"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4804172" y="4100513"/>
            <a:ext cx="3696891" cy="400050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permissioned blockchain could explore controlled participation and shared auditability across agencies.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8663639" y="4886325"/>
            <a:ext cx="19461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8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2643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The Deeper Takeaway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285750" y="692944"/>
            <a:ext cx="8572500" cy="4164806"/>
          </a:xfrm>
          <a:prstGeom prst="rect">
            <a:avLst/>
          </a:prstGeom>
          <a:solidFill>
            <a:srgbClr val="F4F5F8"/>
          </a:solidFill>
          <a:ln/>
        </p:spPr>
      </p:sp>
      <p:sp>
        <p:nvSpPr>
          <p:cNvPr id="5" name="Shape 2"/>
          <p:cNvSpPr/>
          <p:nvPr/>
        </p:nvSpPr>
        <p:spPr>
          <a:xfrm>
            <a:off x="285750" y="692944"/>
            <a:ext cx="8572500" cy="28575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6" name="Shape 3"/>
          <p:cNvSpPr/>
          <p:nvPr/>
        </p:nvSpPr>
        <p:spPr>
          <a:xfrm>
            <a:off x="500063" y="907256"/>
            <a:ext cx="3964781" cy="1291233"/>
          </a:xfrm>
          <a:prstGeom prst="rect">
            <a:avLst/>
          </a:prstGeom>
          <a:solidFill>
            <a:srgbClr val="FFFFFF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2938" y="1050131"/>
            <a:ext cx="367903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642938" y="1235869"/>
            <a:ext cx="3679031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HASHING VS. BLOCKCHAIN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42938" y="1457325"/>
            <a:ext cx="3679031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7A28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Hashing</a:t>
            </a:r>
            <a:r>
              <a:rPr lang="en-US" sz="8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asks: Has the file changed? </a:t>
            </a:r>
            <a:r>
              <a:rPr lang="en-US" sz="8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750" b="1" dirty="0">
                <a:solidFill>
                  <a:srgbClr val="7A28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Blockchain</a:t>
            </a:r>
            <a:r>
              <a:rPr lang="en-US" sz="8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asks: What was recorded, when, and as part of which custody </a:t>
            </a:r>
            <a:r>
              <a:rPr lang="en-US" sz="8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history?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4679156" y="907256"/>
            <a:ext cx="3964781" cy="1284089"/>
          </a:xfrm>
          <a:prstGeom prst="rect">
            <a:avLst/>
          </a:prstGeom>
          <a:solidFill>
            <a:srgbClr val="FFFFFF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22031" y="1050131"/>
            <a:ext cx="367903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4822031" y="1235869"/>
            <a:ext cx="3679031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PROCEDURES MATTER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822031" y="1457325"/>
            <a:ext cx="3679031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Blockchain strengthens traceability, but trustworthy evidence still depends on how it is collected, stored, and accessed.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500063" y="2405658"/>
            <a:ext cx="3964781" cy="1266230"/>
          </a:xfrm>
          <a:prstGeom prst="rect">
            <a:avLst/>
          </a:prstGeom>
          <a:solidFill>
            <a:srgbClr val="FFFFFF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2938" y="2555677"/>
            <a:ext cx="367903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642938" y="2741414"/>
            <a:ext cx="3679031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CHAIN OF TRUST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32452" y="3070027"/>
            <a:ext cx="382079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65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1687" y="3078956"/>
            <a:ext cx="82153" cy="92869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810996" y="3070027"/>
            <a:ext cx="29942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</a:t>
            </a:r>
            <a:endParaRPr lang="en-US" sz="65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7576" y="3078956"/>
            <a:ext cx="82153" cy="92869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2406886" y="3070027"/>
            <a:ext cx="202927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</a:t>
            </a:r>
            <a:endParaRPr lang="en-US" sz="65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6969" y="3078956"/>
            <a:ext cx="82153" cy="92869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2906278" y="3070027"/>
            <a:ext cx="340723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Custody</a:t>
            </a:r>
            <a:endParaRPr lang="en-US" sz="65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4158" y="3078956"/>
            <a:ext cx="82153" cy="92869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3543467" y="3070027"/>
            <a:ext cx="288987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</a:t>
            </a:r>
            <a:endParaRPr lang="en-US" sz="650" dirty="0"/>
          </a:p>
        </p:txBody>
      </p:sp>
      <p:sp>
        <p:nvSpPr>
          <p:cNvPr id="26" name="Text 19"/>
          <p:cNvSpPr/>
          <p:nvPr/>
        </p:nvSpPr>
        <p:spPr>
          <a:xfrm>
            <a:off x="642938" y="3252192"/>
            <a:ext cx="3679031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 value is connecting these pieces into one traceable workflow.</a:t>
            </a:r>
            <a:endParaRPr lang="en-US" sz="800" dirty="0"/>
          </a:p>
        </p:txBody>
      </p:sp>
      <p:sp>
        <p:nvSpPr>
          <p:cNvPr id="27" name="Shape 20"/>
          <p:cNvSpPr/>
          <p:nvPr/>
        </p:nvSpPr>
        <p:spPr>
          <a:xfrm>
            <a:off x="4679156" y="2412802"/>
            <a:ext cx="3964781" cy="1259086"/>
          </a:xfrm>
          <a:prstGeom prst="rect">
            <a:avLst/>
          </a:prstGeom>
          <a:solidFill>
            <a:srgbClr val="FFFFFF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4822031" y="2555677"/>
            <a:ext cx="367903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700" dirty="0"/>
          </a:p>
        </p:txBody>
      </p:sp>
      <p:sp>
        <p:nvSpPr>
          <p:cNvPr id="29" name="Text 22"/>
          <p:cNvSpPr/>
          <p:nvPr/>
        </p:nvSpPr>
        <p:spPr>
          <a:xfrm>
            <a:off x="4822031" y="2741414"/>
            <a:ext cx="3679031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TRUST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4822031" y="2962870"/>
            <a:ext cx="3679031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next challenge is exploring how multiple organizations can participate while maintaining controlled access and reliable identities.</a:t>
            </a:r>
            <a:endParaRPr lang="en-US" sz="800" dirty="0"/>
          </a:p>
        </p:txBody>
      </p:sp>
      <p:sp>
        <p:nvSpPr>
          <p:cNvPr id="31" name="Shape 24"/>
          <p:cNvSpPr/>
          <p:nvPr/>
        </p:nvSpPr>
        <p:spPr>
          <a:xfrm>
            <a:off x="500063" y="3886200"/>
            <a:ext cx="8143875" cy="757238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32" name="Text 25"/>
          <p:cNvSpPr/>
          <p:nvPr/>
        </p:nvSpPr>
        <p:spPr>
          <a:xfrm>
            <a:off x="500063" y="3886200"/>
            <a:ext cx="8143875" cy="757238"/>
          </a:xfrm>
          <a:prstGeom prst="rect">
            <a:avLst/>
          </a:prstGeom>
          <a:noFill/>
          <a:ln/>
        </p:spPr>
        <p:txBody>
          <a:bodyPr wrap="square" lIns="212598" tIns="212598" rIns="212598" bIns="212598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"FORenChain becomes most interesting when blockchain is not just storing a record — it is helping preserve the history of how evidence moved and how its integrity was checked."</a:t>
            </a:r>
            <a:endParaRPr lang="en-US" sz="1000" dirty="0"/>
          </a:p>
        </p:txBody>
      </p:sp>
      <p:sp>
        <p:nvSpPr>
          <p:cNvPr id="33" name="Text 26"/>
          <p:cNvSpPr/>
          <p:nvPr/>
        </p:nvSpPr>
        <p:spPr>
          <a:xfrm>
            <a:off x="8663639" y="4886325"/>
            <a:ext cx="19461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2875" y="142875"/>
            <a:ext cx="8572500" cy="220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The Model Can Find Fraud — But Can It Find the Right Things?</a:t>
            </a:r>
            <a:endParaRPr lang="en-US" sz="1400" dirty="0"/>
          </a:p>
        </p:txBody>
      </p:sp>
      <p:sp>
        <p:nvSpPr>
          <p:cNvPr id="4" name="Shape 1"/>
          <p:cNvSpPr/>
          <p:nvPr/>
        </p:nvSpPr>
        <p:spPr>
          <a:xfrm>
            <a:off x="142875" y="448605"/>
            <a:ext cx="8858250" cy="4552020"/>
          </a:xfrm>
          <a:prstGeom prst="rect">
            <a:avLst/>
          </a:prstGeom>
          <a:solidFill>
            <a:srgbClr val="F4F5F8"/>
          </a:solidFill>
          <a:ln/>
        </p:spPr>
      </p:sp>
      <p:sp>
        <p:nvSpPr>
          <p:cNvPr id="5" name="Shape 2"/>
          <p:cNvSpPr/>
          <p:nvPr/>
        </p:nvSpPr>
        <p:spPr>
          <a:xfrm>
            <a:off x="142875" y="448605"/>
            <a:ext cx="8858250" cy="28575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6" name="Shape 3"/>
          <p:cNvSpPr/>
          <p:nvPr/>
        </p:nvSpPr>
        <p:spPr>
          <a:xfrm>
            <a:off x="2857500" y="577193"/>
            <a:ext cx="3429000" cy="1335881"/>
          </a:xfrm>
          <a:prstGeom prst="rect">
            <a:avLst/>
          </a:prstGeom>
          <a:solidFill>
            <a:srgbClr val="FFFFFF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277097" y="677205"/>
            <a:ext cx="589750" cy="228600"/>
          </a:xfrm>
          <a:prstGeom prst="rect">
            <a:avLst/>
          </a:prstGeom>
          <a:noFill/>
          <a:ln/>
        </p:spPr>
        <p:txBody>
          <a:bodyPr wrap="none" lIns="119126" tIns="51054" rIns="119126" bIns="51054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7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1994" y="952240"/>
            <a:ext cx="100013" cy="1143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071268" y="1123690"/>
            <a:ext cx="1001409" cy="228600"/>
          </a:xfrm>
          <a:prstGeom prst="rect">
            <a:avLst/>
          </a:prstGeom>
          <a:noFill/>
          <a:ln/>
        </p:spPr>
        <p:txBody>
          <a:bodyPr wrap="none" lIns="119126" tIns="51054" rIns="119126" bIns="51054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"SUSPICIOUS?"</a:t>
            </a:r>
            <a:endParaRPr lang="en-US" sz="7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1994" y="1398724"/>
            <a:ext cx="100013" cy="1143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880675" y="1570174"/>
            <a:ext cx="1382595" cy="228600"/>
          </a:xfrm>
          <a:prstGeom prst="rect">
            <a:avLst/>
          </a:prstGeom>
          <a:noFill/>
          <a:ln/>
        </p:spPr>
        <p:txBody>
          <a:bodyPr wrap="square" lIns="119126" tIns="51054" rIns="119126" bIns="51054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INVESTIGATION QUEUE</a:t>
            </a:r>
            <a:endParaRPr lang="en-US" sz="700" dirty="0"/>
          </a:p>
        </p:txBody>
      </p:sp>
      <p:sp>
        <p:nvSpPr>
          <p:cNvPr id="12" name="Shape 7"/>
          <p:cNvSpPr/>
          <p:nvPr/>
        </p:nvSpPr>
        <p:spPr>
          <a:xfrm>
            <a:off x="271463" y="2027374"/>
            <a:ext cx="4257675" cy="1179444"/>
          </a:xfrm>
          <a:prstGeom prst="rect">
            <a:avLst/>
          </a:prstGeom>
          <a:solidFill>
            <a:srgbClr val="FFFFFF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357188" y="2113099"/>
            <a:ext cx="4086225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VS. PROBABILITY</a:t>
            </a:r>
            <a:endParaRPr lang="en-US" sz="650" dirty="0"/>
          </a:p>
        </p:txBody>
      </p:sp>
      <p:sp>
        <p:nvSpPr>
          <p:cNvPr id="14" name="Text 9"/>
          <p:cNvSpPr/>
          <p:nvPr/>
        </p:nvSpPr>
        <p:spPr>
          <a:xfrm>
            <a:off x="357188" y="2266690"/>
            <a:ext cx="4086225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i="1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"Does a high score always mean the most important case?"</a:t>
            </a:r>
            <a:endParaRPr lang="en-US" sz="650" dirty="0"/>
          </a:p>
        </p:txBody>
      </p:sp>
      <p:sp>
        <p:nvSpPr>
          <p:cNvPr id="15" name="Text 10"/>
          <p:cNvSpPr/>
          <p:nvPr/>
        </p:nvSpPr>
        <p:spPr>
          <a:xfrm>
            <a:off x="357188" y="2420280"/>
            <a:ext cx="4086225" cy="1113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high probability identifies suspicion, but priority also depends on behavioral context and financial impact.</a:t>
            </a:r>
            <a:endParaRPr lang="en-US" sz="600" dirty="0"/>
          </a:p>
        </p:txBody>
      </p:sp>
      <p:sp>
        <p:nvSpPr>
          <p:cNvPr id="16" name="Shape 11"/>
          <p:cNvSpPr/>
          <p:nvPr/>
        </p:nvSpPr>
        <p:spPr>
          <a:xfrm>
            <a:off x="357188" y="2942499"/>
            <a:ext cx="4086225" cy="178594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17" name="Shape 12"/>
          <p:cNvSpPr/>
          <p:nvPr/>
        </p:nvSpPr>
        <p:spPr>
          <a:xfrm>
            <a:off x="357188" y="2942499"/>
            <a:ext cx="21431" cy="178594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18" name="Text 13"/>
          <p:cNvSpPr/>
          <p:nvPr/>
        </p:nvSpPr>
        <p:spPr>
          <a:xfrm>
            <a:off x="357188" y="2942499"/>
            <a:ext cx="4086225" cy="178594"/>
          </a:xfrm>
          <a:prstGeom prst="rect">
            <a:avLst/>
          </a:prstGeom>
          <a:noFill/>
          <a:ln/>
        </p:spPr>
        <p:txBody>
          <a:bodyPr wrap="square" lIns="68072" tIns="51054" rIns="68072" bIns="51054" rtlCol="0" anchor="t">
            <a:spAutoFit/>
          </a:bodyPr>
          <a:lstStyle/>
          <a:p>
            <a:pPr algn="l" indent="0" marL="0">
              <a:buNone/>
            </a:pPr>
            <a:r>
              <a:rPr lang="en-US" sz="550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Insight: Combine model risk with meaningful forensic evidence.</a:t>
            </a:r>
            <a:endParaRPr lang="en-US" sz="550" dirty="0"/>
          </a:p>
        </p:txBody>
      </p:sp>
      <p:sp>
        <p:nvSpPr>
          <p:cNvPr id="19" name="Shape 14"/>
          <p:cNvSpPr/>
          <p:nvPr/>
        </p:nvSpPr>
        <p:spPr>
          <a:xfrm>
            <a:off x="4614863" y="2027374"/>
            <a:ext cx="4257675" cy="1179444"/>
          </a:xfrm>
          <a:prstGeom prst="rect">
            <a:avLst/>
          </a:prstGeom>
          <a:solidFill>
            <a:srgbClr val="FFFFFF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4700588" y="2113099"/>
            <a:ext cx="4086225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ADAPTABILITY</a:t>
            </a:r>
            <a:endParaRPr lang="en-US" sz="650" dirty="0"/>
          </a:p>
        </p:txBody>
      </p:sp>
      <p:sp>
        <p:nvSpPr>
          <p:cNvPr id="21" name="Text 16"/>
          <p:cNvSpPr/>
          <p:nvPr/>
        </p:nvSpPr>
        <p:spPr>
          <a:xfrm>
            <a:off x="4700588" y="2266690"/>
            <a:ext cx="4086225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i="1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happens when the fraud pattern is new?"</a:t>
            </a:r>
            <a:endParaRPr lang="en-US" sz="650" dirty="0"/>
          </a:p>
        </p:txBody>
      </p:sp>
      <p:sp>
        <p:nvSpPr>
          <p:cNvPr id="22" name="Text 17"/>
          <p:cNvSpPr/>
          <p:nvPr/>
        </p:nvSpPr>
        <p:spPr>
          <a:xfrm>
            <a:off x="4700588" y="2420280"/>
            <a:ext cx="4086225" cy="1113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behavior evolves; the model needs to notice when its historical patterns stop working (concept drift).</a:t>
            </a:r>
            <a:endParaRPr lang="en-US" sz="600" dirty="0"/>
          </a:p>
        </p:txBody>
      </p:sp>
      <p:sp>
        <p:nvSpPr>
          <p:cNvPr id="23" name="Shape 18"/>
          <p:cNvSpPr/>
          <p:nvPr/>
        </p:nvSpPr>
        <p:spPr>
          <a:xfrm>
            <a:off x="4700588" y="2935356"/>
            <a:ext cx="4086225" cy="178594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24" name="Shape 19"/>
          <p:cNvSpPr/>
          <p:nvPr/>
        </p:nvSpPr>
        <p:spPr>
          <a:xfrm>
            <a:off x="4700588" y="2935356"/>
            <a:ext cx="21431" cy="178594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25" name="Text 20"/>
          <p:cNvSpPr/>
          <p:nvPr/>
        </p:nvSpPr>
        <p:spPr>
          <a:xfrm>
            <a:off x="4700588" y="2935356"/>
            <a:ext cx="4086225" cy="178594"/>
          </a:xfrm>
          <a:prstGeom prst="rect">
            <a:avLst/>
          </a:prstGeom>
          <a:noFill/>
          <a:ln/>
        </p:spPr>
        <p:txBody>
          <a:bodyPr wrap="square" lIns="68072" tIns="51054" rIns="68072" bIns="51054" rtlCol="0" anchor="t">
            <a:spAutoFit/>
          </a:bodyPr>
          <a:lstStyle/>
          <a:p>
            <a:pPr algn="l" indent="0" marL="0">
              <a:buNone/>
            </a:pPr>
            <a:r>
              <a:rPr lang="en-US" sz="550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Insight: Monitor changes in the behavior-fraud relationship.</a:t>
            </a:r>
            <a:endParaRPr lang="en-US" sz="550" dirty="0"/>
          </a:p>
        </p:txBody>
      </p:sp>
      <p:sp>
        <p:nvSpPr>
          <p:cNvPr id="26" name="Shape 21"/>
          <p:cNvSpPr/>
          <p:nvPr/>
        </p:nvSpPr>
        <p:spPr>
          <a:xfrm>
            <a:off x="271463" y="3285399"/>
            <a:ext cx="4257675" cy="1186588"/>
          </a:xfrm>
          <a:prstGeom prst="rect">
            <a:avLst/>
          </a:prstGeom>
          <a:solidFill>
            <a:srgbClr val="FFFFFF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357188" y="3371124"/>
            <a:ext cx="4086225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CONTEXTUAL RISK</a:t>
            </a:r>
            <a:endParaRPr lang="en-US" sz="650" dirty="0"/>
          </a:p>
        </p:txBody>
      </p:sp>
      <p:sp>
        <p:nvSpPr>
          <p:cNvPr id="28" name="Text 23"/>
          <p:cNvSpPr/>
          <p:nvPr/>
        </p:nvSpPr>
        <p:spPr>
          <a:xfrm>
            <a:off x="357188" y="3524715"/>
            <a:ext cx="4086225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i="1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"Can two similar scores deserve different attention?"</a:t>
            </a:r>
            <a:endParaRPr lang="en-US" sz="650" dirty="0"/>
          </a:p>
        </p:txBody>
      </p:sp>
      <p:sp>
        <p:nvSpPr>
          <p:cNvPr id="29" name="Text 24"/>
          <p:cNvSpPr/>
          <p:nvPr/>
        </p:nvSpPr>
        <p:spPr>
          <a:xfrm>
            <a:off x="357188" y="3678306"/>
            <a:ext cx="4086225" cy="1113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transactions may have the same probability but different behavioral roots (amount vs. depletion).</a:t>
            </a:r>
            <a:endParaRPr lang="en-US" sz="600" dirty="0"/>
          </a:p>
        </p:txBody>
      </p:sp>
      <p:sp>
        <p:nvSpPr>
          <p:cNvPr id="30" name="Shape 25"/>
          <p:cNvSpPr/>
          <p:nvPr/>
        </p:nvSpPr>
        <p:spPr>
          <a:xfrm>
            <a:off x="357188" y="4207669"/>
            <a:ext cx="4086225" cy="178594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31" name="Shape 26"/>
          <p:cNvSpPr/>
          <p:nvPr/>
        </p:nvSpPr>
        <p:spPr>
          <a:xfrm>
            <a:off x="357188" y="4207669"/>
            <a:ext cx="21431" cy="178594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32" name="Text 27"/>
          <p:cNvSpPr/>
          <p:nvPr/>
        </p:nvSpPr>
        <p:spPr>
          <a:xfrm>
            <a:off x="357188" y="4207669"/>
            <a:ext cx="4086225" cy="178594"/>
          </a:xfrm>
          <a:prstGeom prst="rect">
            <a:avLst/>
          </a:prstGeom>
          <a:noFill/>
          <a:ln/>
        </p:spPr>
        <p:txBody>
          <a:bodyPr wrap="square" lIns="68072" tIns="51054" rIns="68072" bIns="51054" rtlCol="0" anchor="t">
            <a:spAutoFit/>
          </a:bodyPr>
          <a:lstStyle/>
          <a:p>
            <a:pPr algn="l" indent="0" marL="0">
              <a:buNone/>
            </a:pPr>
            <a:r>
              <a:rPr lang="en-US" sz="550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Insight: Use behavioral evidence to differentiate priorities.</a:t>
            </a:r>
            <a:endParaRPr lang="en-US" sz="550" dirty="0"/>
          </a:p>
        </p:txBody>
      </p:sp>
      <p:sp>
        <p:nvSpPr>
          <p:cNvPr id="33" name="Shape 28"/>
          <p:cNvSpPr/>
          <p:nvPr/>
        </p:nvSpPr>
        <p:spPr>
          <a:xfrm>
            <a:off x="4614863" y="3285399"/>
            <a:ext cx="4257675" cy="1186588"/>
          </a:xfrm>
          <a:prstGeom prst="rect">
            <a:avLst/>
          </a:prstGeom>
          <a:solidFill>
            <a:srgbClr val="FFFFFF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4700588" y="3378268"/>
            <a:ext cx="4086225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TRADE-OFF</a:t>
            </a:r>
            <a:endParaRPr lang="en-US" sz="650" dirty="0"/>
          </a:p>
        </p:txBody>
      </p:sp>
      <p:sp>
        <p:nvSpPr>
          <p:cNvPr id="35" name="Text 30"/>
          <p:cNvSpPr/>
          <p:nvPr/>
        </p:nvSpPr>
        <p:spPr>
          <a:xfrm>
            <a:off x="4700588" y="3531859"/>
            <a:ext cx="4086225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i="1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"Catching more fraud or reducing unnecessary reviews?"</a:t>
            </a:r>
            <a:endParaRPr lang="en-US" sz="650" dirty="0"/>
          </a:p>
        </p:txBody>
      </p:sp>
      <p:sp>
        <p:nvSpPr>
          <p:cNvPr id="36" name="Text 31"/>
          <p:cNvSpPr/>
          <p:nvPr/>
        </p:nvSpPr>
        <p:spPr>
          <a:xfrm>
            <a:off x="4700588" y="3685449"/>
            <a:ext cx="4086225" cy="1113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involves a trade-off between false negatives, false positives, and investigator workload.</a:t>
            </a:r>
            <a:endParaRPr lang="en-US" sz="600" dirty="0"/>
          </a:p>
        </p:txBody>
      </p:sp>
      <p:sp>
        <p:nvSpPr>
          <p:cNvPr id="37" name="Shape 32"/>
          <p:cNvSpPr/>
          <p:nvPr/>
        </p:nvSpPr>
        <p:spPr>
          <a:xfrm>
            <a:off x="4700588" y="4207669"/>
            <a:ext cx="4086225" cy="178594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38" name="Shape 33"/>
          <p:cNvSpPr/>
          <p:nvPr/>
        </p:nvSpPr>
        <p:spPr>
          <a:xfrm>
            <a:off x="4700588" y="4207669"/>
            <a:ext cx="21431" cy="178594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39" name="Text 34"/>
          <p:cNvSpPr/>
          <p:nvPr/>
        </p:nvSpPr>
        <p:spPr>
          <a:xfrm>
            <a:off x="4700588" y="4207669"/>
            <a:ext cx="4086225" cy="178594"/>
          </a:xfrm>
          <a:prstGeom prst="rect">
            <a:avLst/>
          </a:prstGeom>
          <a:noFill/>
          <a:ln/>
        </p:spPr>
        <p:txBody>
          <a:bodyPr wrap="square" lIns="68072" tIns="51054" rIns="68072" bIns="51054" rtlCol="0" anchor="t">
            <a:spAutoFit/>
          </a:bodyPr>
          <a:lstStyle/>
          <a:p>
            <a:pPr algn="l" indent="0" marL="0">
              <a:buNone/>
            </a:pPr>
            <a:r>
              <a:rPr lang="en-US" sz="550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Insight: Match the operating point to investigation capacity.</a:t>
            </a:r>
            <a:endParaRPr lang="en-US" sz="550" dirty="0"/>
          </a:p>
        </p:txBody>
      </p:sp>
      <p:sp>
        <p:nvSpPr>
          <p:cNvPr id="40" name="Shape 35"/>
          <p:cNvSpPr/>
          <p:nvPr/>
        </p:nvSpPr>
        <p:spPr>
          <a:xfrm>
            <a:off x="271463" y="4614863"/>
            <a:ext cx="8601075" cy="257175"/>
          </a:xfrm>
          <a:prstGeom prst="rect">
            <a:avLst/>
          </a:prstGeom>
          <a:solidFill>
            <a:srgbClr val="1C2541"/>
          </a:solidFill>
          <a:ln/>
        </p:spPr>
      </p:sp>
      <p:sp>
        <p:nvSpPr>
          <p:cNvPr id="41" name="Text 36"/>
          <p:cNvSpPr/>
          <p:nvPr/>
        </p:nvSpPr>
        <p:spPr>
          <a:xfrm>
            <a:off x="271463" y="4614863"/>
            <a:ext cx="8601075" cy="25717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SHOULD NOT ONLY FIND SUSPICIOUS TRANSACTIONS. IT SHOULD HELP IDENTIFY WHICH CASES DESERVE HUMAN ATTENTION FIRST.</a:t>
            </a:r>
            <a:endParaRPr lang="en-US" sz="700" dirty="0"/>
          </a:p>
        </p:txBody>
      </p:sp>
      <p:sp>
        <p:nvSpPr>
          <p:cNvPr id="42" name="Text 37"/>
          <p:cNvSpPr/>
          <p:nvPr/>
        </p:nvSpPr>
        <p:spPr>
          <a:xfrm>
            <a:off x="8768730" y="4947047"/>
            <a:ext cx="232395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12</a:t>
            </a:r>
            <a:endParaRPr lang="en-US" sz="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2643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0.75 Is a Line — But Real Fraud Is Not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285750" y="692944"/>
            <a:ext cx="8572500" cy="4164806"/>
          </a:xfrm>
          <a:prstGeom prst="rect">
            <a:avLst/>
          </a:prstGeom>
          <a:solidFill>
            <a:srgbClr val="F4F5F8"/>
          </a:solidFill>
          <a:ln/>
        </p:spPr>
      </p:sp>
      <p:sp>
        <p:nvSpPr>
          <p:cNvPr id="5" name="Shape 2"/>
          <p:cNvSpPr/>
          <p:nvPr/>
        </p:nvSpPr>
        <p:spPr>
          <a:xfrm>
            <a:off x="285750" y="692944"/>
            <a:ext cx="8572500" cy="28575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6" name="Shape 3"/>
          <p:cNvSpPr/>
          <p:nvPr/>
        </p:nvSpPr>
        <p:spPr>
          <a:xfrm>
            <a:off x="500063" y="907256"/>
            <a:ext cx="8143875" cy="1500188"/>
          </a:xfrm>
          <a:prstGeom prst="rect">
            <a:avLst/>
          </a:prstGeom>
          <a:solidFill>
            <a:srgbClr val="FFFFFF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4375" y="1121569"/>
            <a:ext cx="77152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PROBABILITY DECISION RULE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5762634" y="1057275"/>
            <a:ext cx="1119169" cy="157163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9" name="Text 6"/>
          <p:cNvSpPr/>
          <p:nvPr/>
        </p:nvSpPr>
        <p:spPr>
          <a:xfrm>
            <a:off x="5762634" y="1057275"/>
            <a:ext cx="1119169" cy="157163"/>
          </a:xfrm>
          <a:prstGeom prst="rect">
            <a:avLst/>
          </a:prstGeom>
          <a:noFill/>
          <a:ln/>
        </p:spPr>
        <p:txBody>
          <a:bodyPr wrap="none" lIns="85090" tIns="34036" rIns="85090" bIns="34036" rtlCol="0" anchor="t">
            <a:spAutoFit/>
          </a:bodyPr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THRESHOLD</a:t>
            </a:r>
            <a:endParaRPr lang="en-US" sz="600" dirty="0"/>
          </a:p>
        </p:txBody>
      </p:sp>
      <p:sp>
        <p:nvSpPr>
          <p:cNvPr id="10" name="Text 7"/>
          <p:cNvSpPr/>
          <p:nvPr/>
        </p:nvSpPr>
        <p:spPr>
          <a:xfrm>
            <a:off x="974229" y="1843088"/>
            <a:ext cx="194667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6224885" y="1843088"/>
            <a:ext cx="194667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0.75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7975104" y="1843088"/>
            <a:ext cx="194667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714375" y="2057400"/>
            <a:ext cx="771525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"Why does a continuous probability become a YES/NO decision at 0.75?"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500063" y="2607469"/>
            <a:ext cx="95380" cy="7161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02599" y="2607469"/>
            <a:ext cx="3780104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PROBABILITY → DECISION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702599" y="2775347"/>
            <a:ext cx="3780104" cy="2799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threshold is an operational choice, not a universal law. It should match the specific investigation environment.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4661297" y="2607469"/>
            <a:ext cx="95380" cy="7161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863833" y="2607469"/>
            <a:ext cx="3780104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COST OF BEING WRONG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4863833" y="2775347"/>
            <a:ext cx="3780104" cy="2799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one fraud (False Negative) vs. reviewing one extra genuine case (False Positive) have different costs.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500063" y="3502223"/>
            <a:ext cx="95380" cy="7161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02599" y="3502223"/>
            <a:ext cx="3780104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INVESTIGATOR WORKLOAD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702599" y="3670102"/>
            <a:ext cx="3780104" cy="2799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threshold must produce a volume of alerts that investigators can realistically review and act upon.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4661297" y="3502223"/>
            <a:ext cx="95380" cy="7161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863833" y="3502223"/>
            <a:ext cx="3780104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CALIBRATION MATTERS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4863833" y="3670102"/>
            <a:ext cx="3780104" cy="2799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dashboard shows 80%, that number must remain meaningful even when data conditions change.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500063" y="4375547"/>
            <a:ext cx="2709881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</a:t>
            </a:r>
            <a:endParaRPr lang="en-US" sz="600" dirty="0"/>
          </a:p>
        </p:txBody>
      </p:sp>
      <p:sp>
        <p:nvSpPr>
          <p:cNvPr id="27" name="Text 24"/>
          <p:cNvSpPr/>
          <p:nvPr/>
        </p:nvSpPr>
        <p:spPr>
          <a:xfrm>
            <a:off x="500063" y="4511278"/>
            <a:ext cx="2709881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Probability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217087" y="4375547"/>
            <a:ext cx="2709881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RULE</a:t>
            </a:r>
            <a:endParaRPr lang="en-US" sz="600" dirty="0"/>
          </a:p>
        </p:txBody>
      </p:sp>
      <p:sp>
        <p:nvSpPr>
          <p:cNvPr id="29" name="Text 26"/>
          <p:cNvSpPr/>
          <p:nvPr/>
        </p:nvSpPr>
        <p:spPr>
          <a:xfrm>
            <a:off x="3217087" y="4511278"/>
            <a:ext cx="2709881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Threshold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5934112" y="4375547"/>
            <a:ext cx="2709881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PROCESS</a:t>
            </a:r>
            <a:endParaRPr lang="en-US" sz="600" dirty="0"/>
          </a:p>
        </p:txBody>
      </p:sp>
      <p:sp>
        <p:nvSpPr>
          <p:cNvPr id="31" name="Text 28"/>
          <p:cNvSpPr/>
          <p:nvPr/>
        </p:nvSpPr>
        <p:spPr>
          <a:xfrm>
            <a:off x="5934112" y="4511278"/>
            <a:ext cx="2709881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Investigation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8552352" y="4886325"/>
            <a:ext cx="30589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12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2643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 SHAP Explains the Model — But What Should the Investigator Do With It?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285750" y="692944"/>
            <a:ext cx="8572500" cy="4164806"/>
          </a:xfrm>
          <a:prstGeom prst="rect">
            <a:avLst/>
          </a:prstGeom>
          <a:solidFill>
            <a:srgbClr val="F4F5F8"/>
          </a:solidFill>
          <a:ln/>
        </p:spPr>
      </p:sp>
      <p:sp>
        <p:nvSpPr>
          <p:cNvPr id="5" name="Shape 2"/>
          <p:cNvSpPr/>
          <p:nvPr/>
        </p:nvSpPr>
        <p:spPr>
          <a:xfrm>
            <a:off x="285750" y="692944"/>
            <a:ext cx="8572500" cy="28575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6" name="Shape 3"/>
          <p:cNvSpPr/>
          <p:nvPr/>
        </p:nvSpPr>
        <p:spPr>
          <a:xfrm>
            <a:off x="464344" y="871538"/>
            <a:ext cx="8215313" cy="496491"/>
          </a:xfrm>
          <a:prstGeom prst="rect">
            <a:avLst/>
          </a:prstGeom>
          <a:solidFill>
            <a:srgbClr val="FFFFFF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657350" y="978694"/>
            <a:ext cx="857250" cy="267891"/>
          </a:xfrm>
          <a:prstGeom prst="rect">
            <a:avLst/>
          </a:prstGeom>
          <a:noFill/>
          <a:ln/>
        </p:spPr>
        <p:txBody>
          <a:bodyPr wrap="none" lIns="85090" tIns="85090" rIns="85090" bIns="85090" rtlCol="0" anchor="t">
            <a:sp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6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7475" y="1050131"/>
            <a:ext cx="100013" cy="1143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900363" y="978694"/>
            <a:ext cx="857250" cy="267891"/>
          </a:xfrm>
          <a:prstGeom prst="rect">
            <a:avLst/>
          </a:prstGeom>
          <a:noFill/>
          <a:ln/>
        </p:spPr>
        <p:txBody>
          <a:bodyPr wrap="none" lIns="85090" tIns="85090" rIns="85090" bIns="85090" rtlCol="0" anchor="t">
            <a:sp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</a:t>
            </a:r>
            <a:endParaRPr lang="en-US" sz="6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0488" y="1050131"/>
            <a:ext cx="100013" cy="11430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4143375" y="978694"/>
            <a:ext cx="857250" cy="267891"/>
          </a:xfrm>
          <a:prstGeom prst="rect">
            <a:avLst/>
          </a:prstGeom>
          <a:solidFill>
            <a:srgbClr val="00A8E8"/>
          </a:solidFill>
          <a:ln w="9144">
            <a:solidFill>
              <a:srgbClr val="00A8E8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4143375" y="978694"/>
            <a:ext cx="857250" cy="267891"/>
          </a:xfrm>
          <a:prstGeom prst="rect">
            <a:avLst/>
          </a:prstGeom>
          <a:noFill/>
          <a:ln/>
        </p:spPr>
        <p:txBody>
          <a:bodyPr wrap="none" lIns="85090" tIns="85090" rIns="85090" bIns="85090" rtlCol="0" anchor="t">
            <a:sp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"WHY THIS?"</a:t>
            </a:r>
            <a:endParaRPr lang="en-US" sz="6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1050131"/>
            <a:ext cx="100013" cy="1143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386388" y="978694"/>
            <a:ext cx="857250" cy="267891"/>
          </a:xfrm>
          <a:prstGeom prst="rect">
            <a:avLst/>
          </a:prstGeom>
          <a:noFill/>
          <a:ln/>
        </p:spPr>
        <p:txBody>
          <a:bodyPr wrap="none" lIns="85090" tIns="85090" rIns="85090" bIns="85090" rtlCol="0" anchor="t">
            <a:sp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INVESTIGATOR</a:t>
            </a:r>
            <a:endParaRPr lang="en-US" sz="6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6513" y="1050131"/>
            <a:ext cx="100013" cy="114300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629400" y="978694"/>
            <a:ext cx="857250" cy="267891"/>
          </a:xfrm>
          <a:prstGeom prst="rect">
            <a:avLst/>
          </a:prstGeom>
          <a:solidFill>
            <a:srgbClr val="00A8E8"/>
          </a:solidFill>
          <a:ln w="9144">
            <a:solidFill>
              <a:srgbClr val="00A8E8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6629400" y="978694"/>
            <a:ext cx="857250" cy="267891"/>
          </a:xfrm>
          <a:prstGeom prst="rect">
            <a:avLst/>
          </a:prstGeom>
          <a:noFill/>
          <a:ln/>
        </p:spPr>
        <p:txBody>
          <a:bodyPr wrap="none" lIns="85090" tIns="85090" rIns="85090" bIns="85090" rtlCol="0" anchor="t">
            <a:sp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NEXT?"</a:t>
            </a:r>
            <a:endParaRPr lang="en-US" sz="650" dirty="0"/>
          </a:p>
        </p:txBody>
      </p:sp>
      <p:sp>
        <p:nvSpPr>
          <p:cNvPr id="18" name="Shape 11"/>
          <p:cNvSpPr/>
          <p:nvPr/>
        </p:nvSpPr>
        <p:spPr>
          <a:xfrm>
            <a:off x="464344" y="1532334"/>
            <a:ext cx="4036219" cy="1137642"/>
          </a:xfrm>
          <a:prstGeom prst="rect">
            <a:avLst/>
          </a:prstGeom>
          <a:solidFill>
            <a:srgbClr val="FFFFFF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9" name="Text 12"/>
          <p:cNvSpPr/>
          <p:nvPr/>
        </p:nvSpPr>
        <p:spPr>
          <a:xfrm>
            <a:off x="571500" y="1639491"/>
            <a:ext cx="382190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MODEL ATTENTION</a:t>
            </a:r>
            <a:endParaRPr lang="en-US" sz="700" dirty="0"/>
          </a:p>
        </p:txBody>
      </p:sp>
      <p:sp>
        <p:nvSpPr>
          <p:cNvPr id="20" name="Text 13"/>
          <p:cNvSpPr/>
          <p:nvPr/>
        </p:nvSpPr>
        <p:spPr>
          <a:xfrm>
            <a:off x="571500" y="1810941"/>
            <a:ext cx="3821906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did the model notice?"</a:t>
            </a:r>
            <a:endParaRPr lang="en-US" sz="750" dirty="0"/>
          </a:p>
        </p:txBody>
      </p:sp>
      <p:sp>
        <p:nvSpPr>
          <p:cNvPr id="21" name="Text 14"/>
          <p:cNvSpPr/>
          <p:nvPr/>
        </p:nvSpPr>
        <p:spPr>
          <a:xfrm>
            <a:off x="571500" y="1968103"/>
            <a:ext cx="3821906" cy="2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SHAP shows which features (amount, balance depletion, ratios) pushed a prediction higher.</a:t>
            </a:r>
            <a:endParaRPr lang="en-US" sz="650" dirty="0"/>
          </a:p>
        </p:txBody>
      </p:sp>
      <p:sp>
        <p:nvSpPr>
          <p:cNvPr id="22" name="Shape 15"/>
          <p:cNvSpPr/>
          <p:nvPr/>
        </p:nvSpPr>
        <p:spPr>
          <a:xfrm>
            <a:off x="571500" y="2384227"/>
            <a:ext cx="3821906" cy="17145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23" name="Shape 16"/>
          <p:cNvSpPr/>
          <p:nvPr/>
        </p:nvSpPr>
        <p:spPr>
          <a:xfrm>
            <a:off x="571500" y="2384227"/>
            <a:ext cx="21431" cy="171450"/>
          </a:xfrm>
          <a:prstGeom prst="rect">
            <a:avLst/>
          </a:prstGeom>
          <a:solidFill>
            <a:srgbClr val="7A28CB"/>
          </a:solidFill>
          <a:ln/>
        </p:spPr>
      </p:sp>
      <p:sp>
        <p:nvSpPr>
          <p:cNvPr id="24" name="Text 17"/>
          <p:cNvSpPr/>
          <p:nvPr/>
        </p:nvSpPr>
        <p:spPr>
          <a:xfrm>
            <a:off x="571500" y="2384227"/>
            <a:ext cx="3821906" cy="171450"/>
          </a:xfrm>
          <a:prstGeom prst="rect">
            <a:avLst/>
          </a:prstGeom>
          <a:noFill/>
          <a:ln/>
        </p:spPr>
        <p:txBody>
          <a:bodyPr wrap="square" lIns="68072" tIns="42545" rIns="68072" bIns="42545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7A28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Insight: Makes the black-box prediction interpretable.</a:t>
            </a:r>
            <a:endParaRPr lang="en-US" sz="600" dirty="0"/>
          </a:p>
        </p:txBody>
      </p:sp>
      <p:sp>
        <p:nvSpPr>
          <p:cNvPr id="25" name="Shape 18"/>
          <p:cNvSpPr/>
          <p:nvPr/>
        </p:nvSpPr>
        <p:spPr>
          <a:xfrm>
            <a:off x="4643438" y="1532334"/>
            <a:ext cx="4036219" cy="1130498"/>
          </a:xfrm>
          <a:prstGeom prst="rect">
            <a:avLst/>
          </a:prstGeom>
          <a:solidFill>
            <a:srgbClr val="FFFFFF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4750594" y="1639491"/>
            <a:ext cx="382190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CAUSALITY VS. INFLUENCE</a:t>
            </a:r>
            <a:endParaRPr lang="en-US" sz="700" dirty="0"/>
          </a:p>
        </p:txBody>
      </p:sp>
      <p:sp>
        <p:nvSpPr>
          <p:cNvPr id="27" name="Text 20"/>
          <p:cNvSpPr/>
          <p:nvPr/>
        </p:nvSpPr>
        <p:spPr>
          <a:xfrm>
            <a:off x="4750594" y="1810941"/>
            <a:ext cx="3821906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"Does SHAP mean the feature caused the fraud?"</a:t>
            </a:r>
            <a:endParaRPr lang="en-US" sz="750" dirty="0"/>
          </a:p>
        </p:txBody>
      </p:sp>
      <p:sp>
        <p:nvSpPr>
          <p:cNvPr id="28" name="Text 21"/>
          <p:cNvSpPr/>
          <p:nvPr/>
        </p:nvSpPr>
        <p:spPr>
          <a:xfrm>
            <a:off x="4750594" y="1968103"/>
            <a:ext cx="3821906" cy="1299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NO. SHAP explains the model's reasoning, not the real-world cause of the transaction.</a:t>
            </a:r>
            <a:endParaRPr lang="en-US" sz="650" dirty="0"/>
          </a:p>
        </p:txBody>
      </p:sp>
      <p:sp>
        <p:nvSpPr>
          <p:cNvPr id="29" name="Shape 22"/>
          <p:cNvSpPr/>
          <p:nvPr/>
        </p:nvSpPr>
        <p:spPr>
          <a:xfrm>
            <a:off x="4750594" y="2384227"/>
            <a:ext cx="3821906" cy="17145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30" name="Shape 23"/>
          <p:cNvSpPr/>
          <p:nvPr/>
        </p:nvSpPr>
        <p:spPr>
          <a:xfrm>
            <a:off x="4750594" y="2384227"/>
            <a:ext cx="21431" cy="171450"/>
          </a:xfrm>
          <a:prstGeom prst="rect">
            <a:avLst/>
          </a:prstGeom>
          <a:solidFill>
            <a:srgbClr val="7A28CB"/>
          </a:solidFill>
          <a:ln/>
        </p:spPr>
      </p:sp>
      <p:sp>
        <p:nvSpPr>
          <p:cNvPr id="31" name="Text 24"/>
          <p:cNvSpPr/>
          <p:nvPr/>
        </p:nvSpPr>
        <p:spPr>
          <a:xfrm>
            <a:off x="4750594" y="2384227"/>
            <a:ext cx="3821906" cy="171450"/>
          </a:xfrm>
          <a:prstGeom prst="rect">
            <a:avLst/>
          </a:prstGeom>
          <a:noFill/>
          <a:ln/>
        </p:spPr>
        <p:txBody>
          <a:bodyPr wrap="square" lIns="68072" tIns="42545" rIns="68072" bIns="42545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7A28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Insight: Distinguish model logic from causal proof.</a:t>
            </a:r>
            <a:endParaRPr lang="en-US" sz="600" dirty="0"/>
          </a:p>
        </p:txBody>
      </p:sp>
      <p:sp>
        <p:nvSpPr>
          <p:cNvPr id="32" name="Shape 25"/>
          <p:cNvSpPr/>
          <p:nvPr/>
        </p:nvSpPr>
        <p:spPr>
          <a:xfrm>
            <a:off x="464344" y="2805708"/>
            <a:ext cx="4036219" cy="1144786"/>
          </a:xfrm>
          <a:prstGeom prst="rect">
            <a:avLst/>
          </a:prstGeom>
          <a:solidFill>
            <a:srgbClr val="FFFFFF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571500" y="2920008"/>
            <a:ext cx="382190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FORENSIC INTELLIGENCE</a:t>
            </a:r>
            <a:endParaRPr lang="en-US" sz="700" dirty="0"/>
          </a:p>
        </p:txBody>
      </p:sp>
      <p:sp>
        <p:nvSpPr>
          <p:cNvPr id="34" name="Text 27"/>
          <p:cNvSpPr/>
          <p:nvPr/>
        </p:nvSpPr>
        <p:spPr>
          <a:xfrm>
            <a:off x="571500" y="3091458"/>
            <a:ext cx="3821906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"Can an explanation change an investigation?"</a:t>
            </a:r>
            <a:endParaRPr lang="en-US" sz="750" dirty="0"/>
          </a:p>
        </p:txBody>
      </p:sp>
      <p:sp>
        <p:nvSpPr>
          <p:cNvPr id="35" name="Text 28"/>
          <p:cNvSpPr/>
          <p:nvPr/>
        </p:nvSpPr>
        <p:spPr>
          <a:xfrm>
            <a:off x="571500" y="3248620"/>
            <a:ext cx="3821906" cy="2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SHAP flags balance depletion, the investigator knows exactly which financial history to check next.</a:t>
            </a:r>
            <a:endParaRPr lang="en-US" sz="650" dirty="0"/>
          </a:p>
        </p:txBody>
      </p:sp>
      <p:sp>
        <p:nvSpPr>
          <p:cNvPr id="36" name="Shape 29"/>
          <p:cNvSpPr/>
          <p:nvPr/>
        </p:nvSpPr>
        <p:spPr>
          <a:xfrm>
            <a:off x="571500" y="3671888"/>
            <a:ext cx="3821906" cy="17145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37" name="Shape 30"/>
          <p:cNvSpPr/>
          <p:nvPr/>
        </p:nvSpPr>
        <p:spPr>
          <a:xfrm>
            <a:off x="571500" y="3671888"/>
            <a:ext cx="21431" cy="171450"/>
          </a:xfrm>
          <a:prstGeom prst="rect">
            <a:avLst/>
          </a:prstGeom>
          <a:solidFill>
            <a:srgbClr val="7A28CB"/>
          </a:solidFill>
          <a:ln/>
        </p:spPr>
      </p:sp>
      <p:sp>
        <p:nvSpPr>
          <p:cNvPr id="38" name="Text 31"/>
          <p:cNvSpPr/>
          <p:nvPr/>
        </p:nvSpPr>
        <p:spPr>
          <a:xfrm>
            <a:off x="571500" y="3671888"/>
            <a:ext cx="3821906" cy="171450"/>
          </a:xfrm>
          <a:prstGeom prst="rect">
            <a:avLst/>
          </a:prstGeom>
          <a:noFill/>
          <a:ln/>
        </p:spPr>
        <p:txBody>
          <a:bodyPr wrap="square" lIns="68072" tIns="42545" rIns="68072" bIns="42545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7A28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Insight: Bridge "why flagged?" to "what to inspect?".</a:t>
            </a:r>
            <a:endParaRPr lang="en-US" sz="600" dirty="0"/>
          </a:p>
        </p:txBody>
      </p:sp>
      <p:sp>
        <p:nvSpPr>
          <p:cNvPr id="39" name="Shape 32"/>
          <p:cNvSpPr/>
          <p:nvPr/>
        </p:nvSpPr>
        <p:spPr>
          <a:xfrm>
            <a:off x="4643438" y="2812852"/>
            <a:ext cx="4036219" cy="1137642"/>
          </a:xfrm>
          <a:prstGeom prst="rect">
            <a:avLst/>
          </a:prstGeom>
          <a:solidFill>
            <a:srgbClr val="FFFFFF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40" name="Text 33"/>
          <p:cNvSpPr/>
          <p:nvPr/>
        </p:nvSpPr>
        <p:spPr>
          <a:xfrm>
            <a:off x="4750594" y="2920008"/>
            <a:ext cx="382190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PATTERN MONITORING</a:t>
            </a:r>
            <a:endParaRPr lang="en-US" sz="700" dirty="0"/>
          </a:p>
        </p:txBody>
      </p:sp>
      <p:sp>
        <p:nvSpPr>
          <p:cNvPr id="41" name="Text 34"/>
          <p:cNvSpPr/>
          <p:nvPr/>
        </p:nvSpPr>
        <p:spPr>
          <a:xfrm>
            <a:off x="4750594" y="3091458"/>
            <a:ext cx="3821906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"Can explanations themselves be monitored?"</a:t>
            </a:r>
            <a:endParaRPr lang="en-US" sz="750" dirty="0"/>
          </a:p>
        </p:txBody>
      </p:sp>
      <p:sp>
        <p:nvSpPr>
          <p:cNvPr id="42" name="Text 35"/>
          <p:cNvSpPr/>
          <p:nvPr/>
        </p:nvSpPr>
        <p:spPr>
          <a:xfrm>
            <a:off x="4750594" y="3248620"/>
            <a:ext cx="3821906" cy="1299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fraud patterns change, the features driving predictions will also shift over time.</a:t>
            </a:r>
            <a:endParaRPr lang="en-US" sz="650" dirty="0"/>
          </a:p>
        </p:txBody>
      </p:sp>
      <p:sp>
        <p:nvSpPr>
          <p:cNvPr id="43" name="Shape 36"/>
          <p:cNvSpPr/>
          <p:nvPr/>
        </p:nvSpPr>
        <p:spPr>
          <a:xfrm>
            <a:off x="4750594" y="3671888"/>
            <a:ext cx="3821906" cy="17145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44" name="Shape 37"/>
          <p:cNvSpPr/>
          <p:nvPr/>
        </p:nvSpPr>
        <p:spPr>
          <a:xfrm>
            <a:off x="4750594" y="3671888"/>
            <a:ext cx="21431" cy="171450"/>
          </a:xfrm>
          <a:prstGeom prst="rect">
            <a:avLst/>
          </a:prstGeom>
          <a:solidFill>
            <a:srgbClr val="7A28CB"/>
          </a:solidFill>
          <a:ln/>
        </p:spPr>
      </p:sp>
      <p:sp>
        <p:nvSpPr>
          <p:cNvPr id="45" name="Text 38"/>
          <p:cNvSpPr/>
          <p:nvPr/>
        </p:nvSpPr>
        <p:spPr>
          <a:xfrm>
            <a:off x="4750594" y="3671888"/>
            <a:ext cx="3821906" cy="171450"/>
          </a:xfrm>
          <a:prstGeom prst="rect">
            <a:avLst/>
          </a:prstGeom>
          <a:noFill/>
          <a:ln/>
        </p:spPr>
        <p:txBody>
          <a:bodyPr wrap="square" lIns="68072" tIns="42545" rIns="68072" bIns="42545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7A28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Insight: Monitor explanation patterns for concept drift.</a:t>
            </a:r>
            <a:endParaRPr lang="en-US" sz="600" dirty="0"/>
          </a:p>
        </p:txBody>
      </p:sp>
      <p:sp>
        <p:nvSpPr>
          <p:cNvPr id="46" name="Shape 39"/>
          <p:cNvSpPr/>
          <p:nvPr/>
        </p:nvSpPr>
        <p:spPr>
          <a:xfrm>
            <a:off x="464344" y="4093369"/>
            <a:ext cx="8215313" cy="585788"/>
          </a:xfrm>
          <a:prstGeom prst="rect">
            <a:avLst/>
          </a:prstGeom>
          <a:solidFill>
            <a:srgbClr val="1C2541"/>
          </a:solidFill>
          <a:ln/>
        </p:spPr>
      </p:sp>
      <p:sp>
        <p:nvSpPr>
          <p:cNvPr id="47" name="Text 40"/>
          <p:cNvSpPr/>
          <p:nvPr/>
        </p:nvSpPr>
        <p:spPr>
          <a:xfrm>
            <a:off x="607219" y="4236244"/>
            <a:ext cx="79295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explainability does not stop at "Why did the model flag this?"</a:t>
            </a:r>
            <a:endParaRPr lang="en-US" sz="750" dirty="0"/>
          </a:p>
        </p:txBody>
      </p:sp>
      <p:sp>
        <p:nvSpPr>
          <p:cNvPr id="48" name="Text 41"/>
          <p:cNvSpPr/>
          <p:nvPr/>
        </p:nvSpPr>
        <p:spPr>
          <a:xfrm>
            <a:off x="607219" y="4386263"/>
            <a:ext cx="7929563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should help answer: "What should the investigator look at next?"</a:t>
            </a:r>
            <a:endParaRPr lang="en-US" sz="900" dirty="0"/>
          </a:p>
        </p:txBody>
      </p:sp>
      <p:sp>
        <p:nvSpPr>
          <p:cNvPr id="49" name="Text 42"/>
          <p:cNvSpPr/>
          <p:nvPr/>
        </p:nvSpPr>
        <p:spPr>
          <a:xfrm>
            <a:off x="8559775" y="4886325"/>
            <a:ext cx="29847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12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2643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 From a Model Output to a Forensic Story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285750" y="692944"/>
            <a:ext cx="8572500" cy="4164806"/>
          </a:xfrm>
          <a:prstGeom prst="rect">
            <a:avLst/>
          </a:prstGeom>
          <a:solidFill>
            <a:srgbClr val="F4F5F8"/>
          </a:solidFill>
          <a:ln/>
        </p:spPr>
      </p:sp>
      <p:sp>
        <p:nvSpPr>
          <p:cNvPr id="5" name="Shape 2"/>
          <p:cNvSpPr/>
          <p:nvPr/>
        </p:nvSpPr>
        <p:spPr>
          <a:xfrm>
            <a:off x="285750" y="692944"/>
            <a:ext cx="8572500" cy="28575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6" name="Shape 3"/>
          <p:cNvSpPr/>
          <p:nvPr/>
        </p:nvSpPr>
        <p:spPr>
          <a:xfrm>
            <a:off x="464344" y="871538"/>
            <a:ext cx="8215313" cy="328613"/>
          </a:xfrm>
          <a:prstGeom prst="rect">
            <a:avLst/>
          </a:prstGeom>
          <a:solidFill>
            <a:srgbClr val="FFFFFF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1500" y="987623"/>
            <a:ext cx="953244" cy="82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</a:t>
            </a:r>
            <a:endParaRPr lang="en-US" sz="5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744" y="978694"/>
            <a:ext cx="53578" cy="8572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78322" y="987623"/>
            <a:ext cx="953244" cy="82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</a:t>
            </a:r>
            <a:endParaRPr lang="en-US" sz="5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1566" y="978694"/>
            <a:ext cx="53578" cy="8572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585145" y="987623"/>
            <a:ext cx="953244" cy="82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5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8389" y="978694"/>
            <a:ext cx="53578" cy="8572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3591967" y="987623"/>
            <a:ext cx="953244" cy="82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</a:t>
            </a:r>
            <a:endParaRPr lang="en-US" sz="5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5211" y="978694"/>
            <a:ext cx="53578" cy="85725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598789" y="987623"/>
            <a:ext cx="953244" cy="82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</a:t>
            </a:r>
            <a:endParaRPr lang="en-US" sz="5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52033" y="978694"/>
            <a:ext cx="53578" cy="85725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5605611" y="987623"/>
            <a:ext cx="953244" cy="82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</a:t>
            </a:r>
            <a:endParaRPr lang="en-US" sz="50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8855" y="978694"/>
            <a:ext cx="53578" cy="85725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6612434" y="987623"/>
            <a:ext cx="953244" cy="82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</a:t>
            </a:r>
            <a:endParaRPr lang="en-US" sz="500" dirty="0"/>
          </a:p>
        </p:txBody>
      </p:sp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65678" y="978694"/>
            <a:ext cx="53578" cy="85725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7619256" y="987623"/>
            <a:ext cx="953244" cy="82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</a:t>
            </a:r>
            <a:endParaRPr lang="en-US" sz="500" dirty="0"/>
          </a:p>
        </p:txBody>
      </p:sp>
      <p:sp>
        <p:nvSpPr>
          <p:cNvPr id="22" name="Shape 12"/>
          <p:cNvSpPr/>
          <p:nvPr/>
        </p:nvSpPr>
        <p:spPr>
          <a:xfrm>
            <a:off x="464344" y="1364456"/>
            <a:ext cx="4054078" cy="11144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13"/>
          <p:cNvSpPr/>
          <p:nvPr/>
        </p:nvSpPr>
        <p:spPr>
          <a:xfrm>
            <a:off x="464344" y="1364456"/>
            <a:ext cx="28575" cy="1114425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24" name="Text 14"/>
          <p:cNvSpPr/>
          <p:nvPr/>
        </p:nvSpPr>
        <p:spPr>
          <a:xfrm>
            <a:off x="571500" y="1450181"/>
            <a:ext cx="3839766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1: DETECTION</a:t>
            </a:r>
            <a:endParaRPr lang="en-US" sz="650" dirty="0"/>
          </a:p>
        </p:txBody>
      </p:sp>
      <p:sp>
        <p:nvSpPr>
          <p:cNvPr id="25" name="Text 15"/>
          <p:cNvSpPr/>
          <p:nvPr/>
        </p:nvSpPr>
        <p:spPr>
          <a:xfrm>
            <a:off x="571500" y="1589484"/>
            <a:ext cx="383976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"Which transaction looks unusual?"</a:t>
            </a:r>
            <a:endParaRPr lang="en-US" sz="700" dirty="0"/>
          </a:p>
        </p:txBody>
      </p:sp>
      <p:sp>
        <p:nvSpPr>
          <p:cNvPr id="26" name="Text 16"/>
          <p:cNvSpPr/>
          <p:nvPr/>
        </p:nvSpPr>
        <p:spPr>
          <a:xfrm>
            <a:off x="571500" y="1732359"/>
            <a:ext cx="3839766" cy="120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provides the initial risk estimate based on historical patterns.</a:t>
            </a:r>
            <a:endParaRPr lang="en-US" sz="650" dirty="0"/>
          </a:p>
        </p:txBody>
      </p:sp>
      <p:sp>
        <p:nvSpPr>
          <p:cNvPr id="27" name="Shape 17"/>
          <p:cNvSpPr/>
          <p:nvPr/>
        </p:nvSpPr>
        <p:spPr>
          <a:xfrm>
            <a:off x="4625578" y="1364456"/>
            <a:ext cx="4054078" cy="11144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Shape 18"/>
          <p:cNvSpPr/>
          <p:nvPr/>
        </p:nvSpPr>
        <p:spPr>
          <a:xfrm>
            <a:off x="4625578" y="1364456"/>
            <a:ext cx="28575" cy="1114425"/>
          </a:xfrm>
          <a:prstGeom prst="rect">
            <a:avLst/>
          </a:prstGeom>
          <a:solidFill>
            <a:srgbClr val="7A28CB"/>
          </a:solidFill>
          <a:ln/>
        </p:spPr>
      </p:sp>
      <p:sp>
        <p:nvSpPr>
          <p:cNvPr id="29" name="Text 19"/>
          <p:cNvSpPr/>
          <p:nvPr/>
        </p:nvSpPr>
        <p:spPr>
          <a:xfrm>
            <a:off x="4732734" y="1450181"/>
            <a:ext cx="3839766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7A28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2: EXPLANATION</a:t>
            </a:r>
            <a:endParaRPr lang="en-US" sz="650" dirty="0"/>
          </a:p>
        </p:txBody>
      </p:sp>
      <p:sp>
        <p:nvSpPr>
          <p:cNvPr id="30" name="Text 20"/>
          <p:cNvSpPr/>
          <p:nvPr/>
        </p:nvSpPr>
        <p:spPr>
          <a:xfrm>
            <a:off x="4732734" y="1589484"/>
            <a:ext cx="383976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"Why did the model flag this?"</a:t>
            </a:r>
            <a:endParaRPr lang="en-US" sz="700" dirty="0"/>
          </a:p>
        </p:txBody>
      </p:sp>
      <p:sp>
        <p:nvSpPr>
          <p:cNvPr id="31" name="Text 21"/>
          <p:cNvSpPr/>
          <p:nvPr/>
        </p:nvSpPr>
        <p:spPr>
          <a:xfrm>
            <a:off x="4732734" y="1732359"/>
            <a:ext cx="3839766" cy="120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 provides feature-level contributions to make the prediction interpretable.</a:t>
            </a:r>
            <a:endParaRPr lang="en-US" sz="650" dirty="0"/>
          </a:p>
        </p:txBody>
      </p:sp>
      <p:sp>
        <p:nvSpPr>
          <p:cNvPr id="32" name="Shape 22"/>
          <p:cNvSpPr/>
          <p:nvPr/>
        </p:nvSpPr>
        <p:spPr>
          <a:xfrm>
            <a:off x="464344" y="2586038"/>
            <a:ext cx="4054078" cy="11144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Shape 23"/>
          <p:cNvSpPr/>
          <p:nvPr/>
        </p:nvSpPr>
        <p:spPr>
          <a:xfrm>
            <a:off x="464344" y="2586038"/>
            <a:ext cx="28575" cy="1114425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34" name="Text 24"/>
          <p:cNvSpPr/>
          <p:nvPr/>
        </p:nvSpPr>
        <p:spPr>
          <a:xfrm>
            <a:off x="571500" y="2671763"/>
            <a:ext cx="3839766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3: BEHAVIOR</a:t>
            </a:r>
            <a:endParaRPr lang="en-US" sz="650" dirty="0"/>
          </a:p>
        </p:txBody>
      </p:sp>
      <p:sp>
        <p:nvSpPr>
          <p:cNvPr id="35" name="Text 25"/>
          <p:cNvSpPr/>
          <p:nvPr/>
        </p:nvSpPr>
        <p:spPr>
          <a:xfrm>
            <a:off x="571500" y="2811066"/>
            <a:ext cx="383976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"Does the context support the concern?"</a:t>
            </a:r>
            <a:endParaRPr lang="en-US" sz="700" dirty="0"/>
          </a:p>
        </p:txBody>
      </p:sp>
      <p:sp>
        <p:nvSpPr>
          <p:cNvPr id="36" name="Text 26"/>
          <p:cNvSpPr/>
          <p:nvPr/>
        </p:nvSpPr>
        <p:spPr>
          <a:xfrm>
            <a:off x="571500" y="2953941"/>
            <a:ext cx="3839766" cy="120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Behavioral profiling adds context beyond one isolated prediction.</a:t>
            </a:r>
            <a:endParaRPr lang="en-US" sz="650" dirty="0"/>
          </a:p>
        </p:txBody>
      </p:sp>
      <p:sp>
        <p:nvSpPr>
          <p:cNvPr id="37" name="Shape 27"/>
          <p:cNvSpPr/>
          <p:nvPr/>
        </p:nvSpPr>
        <p:spPr>
          <a:xfrm>
            <a:off x="4625578" y="2586038"/>
            <a:ext cx="4054078" cy="11144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Shape 28"/>
          <p:cNvSpPr/>
          <p:nvPr/>
        </p:nvSpPr>
        <p:spPr>
          <a:xfrm>
            <a:off x="4625578" y="2586038"/>
            <a:ext cx="28575" cy="1114425"/>
          </a:xfrm>
          <a:prstGeom prst="rect">
            <a:avLst/>
          </a:prstGeom>
          <a:solidFill>
            <a:srgbClr val="47B39C"/>
          </a:solidFill>
          <a:ln/>
        </p:spPr>
      </p:sp>
      <p:sp>
        <p:nvSpPr>
          <p:cNvPr id="39" name="Text 29"/>
          <p:cNvSpPr/>
          <p:nvPr/>
        </p:nvSpPr>
        <p:spPr>
          <a:xfrm>
            <a:off x="4732734" y="2671763"/>
            <a:ext cx="3839766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47B3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4: FORENSIC PRIORITY</a:t>
            </a:r>
            <a:endParaRPr lang="en-US" sz="650" dirty="0"/>
          </a:p>
        </p:txBody>
      </p:sp>
      <p:sp>
        <p:nvSpPr>
          <p:cNvPr id="40" name="Text 30"/>
          <p:cNvSpPr/>
          <p:nvPr/>
        </p:nvSpPr>
        <p:spPr>
          <a:xfrm>
            <a:off x="4732734" y="2811066"/>
            <a:ext cx="383976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"Which cases deserve attention first?"</a:t>
            </a:r>
            <a:endParaRPr lang="en-US" sz="700" dirty="0"/>
          </a:p>
        </p:txBody>
      </p:sp>
      <p:sp>
        <p:nvSpPr>
          <p:cNvPr id="41" name="Text 31"/>
          <p:cNvSpPr/>
          <p:nvPr/>
        </p:nvSpPr>
        <p:spPr>
          <a:xfrm>
            <a:off x="4732734" y="2953941"/>
            <a:ext cx="3839766" cy="120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Combines probability, behavior, and evidence to support human prioritization.</a:t>
            </a:r>
            <a:endParaRPr lang="en-US" sz="650" dirty="0"/>
          </a:p>
        </p:txBody>
      </p:sp>
      <p:sp>
        <p:nvSpPr>
          <p:cNvPr id="42" name="Shape 32"/>
          <p:cNvSpPr/>
          <p:nvPr/>
        </p:nvSpPr>
        <p:spPr>
          <a:xfrm>
            <a:off x="464344" y="3843338"/>
            <a:ext cx="8215313" cy="835819"/>
          </a:xfrm>
          <a:prstGeom prst="rect">
            <a:avLst/>
          </a:prstGeom>
          <a:solidFill>
            <a:srgbClr val="1C2541"/>
          </a:solidFill>
          <a:ln/>
        </p:spPr>
      </p:sp>
      <p:sp>
        <p:nvSpPr>
          <p:cNvPr id="43" name="Text 33"/>
          <p:cNvSpPr/>
          <p:nvPr/>
        </p:nvSpPr>
        <p:spPr>
          <a:xfrm>
            <a:off x="607219" y="3986213"/>
            <a:ext cx="7929563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 VALUE IS NOT JUST DETECTING FRAUD. IT IS CONNECTING:</a:t>
            </a:r>
            <a:endParaRPr lang="en-US" sz="800" dirty="0"/>
          </a:p>
        </p:txBody>
      </p:sp>
      <p:sp>
        <p:nvSpPr>
          <p:cNvPr id="44" name="Text 34"/>
          <p:cNvSpPr/>
          <p:nvPr/>
        </p:nvSpPr>
        <p:spPr>
          <a:xfrm>
            <a:off x="607219" y="4189809"/>
            <a:ext cx="7929563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+ EXPLANATION + BEHAVIOR + EVIDENCE + PRIORITY</a:t>
            </a:r>
            <a:endParaRPr lang="en-US" sz="1000" dirty="0"/>
          </a:p>
        </p:txBody>
      </p:sp>
      <p:sp>
        <p:nvSpPr>
          <p:cNvPr id="45" name="Text 35"/>
          <p:cNvSpPr/>
          <p:nvPr/>
        </p:nvSpPr>
        <p:spPr>
          <a:xfrm>
            <a:off x="607219" y="4421981"/>
            <a:ext cx="79295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next meaningful test is whether these explanations and priorities actually help investigators review cases more effectively."</a:t>
            </a:r>
            <a:endParaRPr lang="en-US" sz="750" dirty="0"/>
          </a:p>
        </p:txBody>
      </p:sp>
      <p:sp>
        <p:nvSpPr>
          <p:cNvPr id="46" name="Text 36"/>
          <p:cNvSpPr/>
          <p:nvPr/>
        </p:nvSpPr>
        <p:spPr>
          <a:xfrm>
            <a:off x="8552352" y="4886325"/>
            <a:ext cx="30589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12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2026-09-22T19:21:33Z</dcterms:created>
  <dcterms:modified xsi:type="dcterms:W3CDTF">2026-09-22T19:21:33Z</dcterms:modified>
</cp:coreProperties>
</file>