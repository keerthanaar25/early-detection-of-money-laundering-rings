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52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92906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CSE4074 · FORENSIC ANALYTICS · M.TECH RESEARCH PROPOSAL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850106"/>
            <a:ext cx="464343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2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Money Laundering Rings using Temporal Transaction Network Analytics and Explainable Risk Scoring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0063" y="2255862"/>
            <a:ext cx="417909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“Detecting coordinated laundering behaviour before the suspicious network fully emerges”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0063" y="4559164"/>
            <a:ext cx="4357688" cy="2628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0063" y="4559164"/>
            <a:ext cx="4357688" cy="14288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0063" y="4559164"/>
            <a:ext cx="4357688" cy="26286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6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Student Name · Register Number · Programme · Review 1 · Institution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5464969" y="657225"/>
            <a:ext cx="3357563" cy="3679031"/>
          </a:xfrm>
          <a:prstGeom prst="rect">
            <a:avLst/>
          </a:prstGeom>
          <a:solidFill>
            <a:srgbClr val="FFFFFF"/>
          </a:solidFill>
          <a:ln w="9144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4994" y="857250"/>
            <a:ext cx="295751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NETWORK EVOLUTION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981942" y="1496616"/>
            <a:ext cx="2829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NORMAL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851582" y="1496616"/>
            <a:ext cx="3772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EMERGING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7721222" y="1496616"/>
            <a:ext cx="4715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SUSPICIOUS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5915025" y="2321719"/>
            <a:ext cx="342900" cy="342900"/>
          </a:xfrm>
          <a:prstGeom prst="ellipse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915025" y="232171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772275" y="2107406"/>
            <a:ext cx="342900" cy="342900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772275" y="210740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772275" y="2928938"/>
            <a:ext cx="342900" cy="342900"/>
          </a:xfrm>
          <a:prstGeom prst="ellipse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772275" y="292893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700963" y="2321719"/>
            <a:ext cx="342900" cy="3429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00963" y="232171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415338" y="2750344"/>
            <a:ext cx="342900" cy="34290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415338" y="2750344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664994" y="4089797"/>
            <a:ext cx="277752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Transactions → relationships → time → forensic pattern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PROBLEM UNDERSTANDING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Money Laundering Difficult to Detect?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00063" y="1264444"/>
            <a:ext cx="4397648" cy="535781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transaction may appear 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</a:t>
            </a: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0063" y="1800225"/>
            <a:ext cx="4397648" cy="601414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Laundering often uses multiple 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accounts</a:t>
            </a: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indirect paths.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0063" y="2401639"/>
            <a:ext cx="4397648" cy="601414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behaviour emerges through 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relationships, timing, and repetition</a:t>
            </a: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0063" y="3003054"/>
            <a:ext cx="4397648" cy="601414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10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coordinated ring may become obvious only after several transactions occur.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40610" y="1193006"/>
            <a:ext cx="3746171" cy="2750344"/>
          </a:xfrm>
          <a:prstGeom prst="rect">
            <a:avLst/>
          </a:prstGeom>
          <a:solidFill>
            <a:srgbClr val="FFFFFF"/>
          </a:solidFill>
          <a:ln w="9144">
            <a:solidFill>
              <a:srgbClr val="DCE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40635" y="1393031"/>
            <a:ext cx="334612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ILLUSTRATIVE FUND FLOW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5476354" y="2046684"/>
            <a:ext cx="385763" cy="385763"/>
          </a:xfrm>
          <a:prstGeom prst="ellipse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76354" y="2046684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97885" y="2046684"/>
            <a:ext cx="385763" cy="385763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97885" y="2046684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19417" y="2046684"/>
            <a:ext cx="385763" cy="385763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119417" y="2046684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940948" y="2046684"/>
            <a:ext cx="385763" cy="385763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940948" y="2046684"/>
            <a:ext cx="3857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40635" y="2725341"/>
            <a:ext cx="33461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Individually: normal-looking transfers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440635" y="2932509"/>
            <a:ext cx="33461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Collectively: rapid, repeated, interconnected movement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440635" y="3389709"/>
            <a:ext cx="334612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 </a:t>
            </a:r>
            <a:r>
              <a:rPr lang="en-US" sz="8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+</a:t>
            </a:r>
            <a:r>
              <a:rPr lang="en-US" sz="8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RELATIONSHIP </a:t>
            </a:r>
            <a:r>
              <a:rPr lang="en-US" sz="8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+</a:t>
            </a:r>
            <a:r>
              <a:rPr lang="en-US" sz="8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TIME </a:t>
            </a:r>
            <a:r>
              <a:rPr lang="en-US" sz="8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=</a:t>
            </a:r>
            <a:r>
              <a:rPr lang="en-US" sz="8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FORENSIC PATTERN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00063" y="4450556"/>
            <a:ext cx="8143875" cy="39290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00063" y="4450556"/>
            <a:ext cx="35719" cy="39290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00063" y="4450556"/>
            <a:ext cx="8143875" cy="392906"/>
          </a:xfrm>
          <a:prstGeom prst="rect">
            <a:avLst/>
          </a:prstGeom>
          <a:noFill/>
          <a:ln/>
        </p:spPr>
        <p:txBody>
          <a:bodyPr wrap="square" lIns="170053" tIns="144526" rIns="170053" bIns="144526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r>
              <a:rPr lang="en-US" sz="9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Money laundering is not only a transaction-level problem; it is a relationship-and-time problem.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SPECIFIC PROBLEM + MOTIVATION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Final Detection to Early Warning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0063" y="1278731"/>
            <a:ext cx="4723414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state:</a:t>
            </a: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Existing AML research can detect suspicious transactions, networks, groups, temporal patterns, and evidence.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725885"/>
            <a:ext cx="4723414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Detection may occur only after sufficient suspicious structure has emerged.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0063" y="2173039"/>
            <a:ext cx="4723414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the evolving formation of a laundering ring be detected earlier?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0063" y="2770212"/>
            <a:ext cx="928688" cy="628650"/>
          </a:xfrm>
          <a:prstGeom prst="rect">
            <a:avLst/>
          </a:prstGeom>
          <a:solidFill>
            <a:srgbClr val="FFFFFF"/>
          </a:solidFill>
          <a:ln w="18288">
            <a:solidFill>
              <a:srgbClr val="B9C7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0063" y="2770212"/>
            <a:ext cx="928688" cy="628650"/>
          </a:xfrm>
          <a:prstGeom prst="rect">
            <a:avLst/>
          </a:prstGeom>
          <a:noFill/>
          <a:ln/>
        </p:spPr>
        <p:txBody>
          <a:bodyPr wrap="square" lIns="85090" tIns="178562" rIns="85090" bIns="17856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
transactions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428750" y="2980953"/>
            <a:ext cx="321469" cy="207169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750219" y="2770212"/>
            <a:ext cx="928688" cy="628650"/>
          </a:xfrm>
          <a:prstGeom prst="rect">
            <a:avLst/>
          </a:prstGeom>
          <a:solidFill>
            <a:srgbClr val="FFFFFF"/>
          </a:solidFill>
          <a:ln w="18288">
            <a:solidFill>
              <a:srgbClr val="B9C7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750219" y="2770212"/>
            <a:ext cx="928688" cy="628650"/>
          </a:xfrm>
          <a:prstGeom prst="rect">
            <a:avLst/>
          </a:prstGeom>
          <a:noFill/>
          <a:ln/>
        </p:spPr>
        <p:txBody>
          <a:bodyPr wrap="square" lIns="85090" tIns="178562" rIns="85090" bIns="17856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
relationships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678906" y="2980953"/>
            <a:ext cx="321469" cy="207169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000375" y="2770212"/>
            <a:ext cx="928688" cy="628650"/>
          </a:xfrm>
          <a:prstGeom prst="rect">
            <a:avLst/>
          </a:prstGeom>
          <a:solidFill>
            <a:srgbClr val="FFF0F0"/>
          </a:solidFill>
          <a:ln w="18288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000375" y="2770212"/>
            <a:ext cx="928688" cy="628650"/>
          </a:xfrm>
          <a:prstGeom prst="rect">
            <a:avLst/>
          </a:prstGeom>
          <a:noFill/>
          <a:ln/>
        </p:spPr>
        <p:txBody>
          <a:bodyPr wrap="square" lIns="85090" tIns="178562" rIns="85090" bIns="17856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
structure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929063" y="2980953"/>
            <a:ext cx="321469" cy="207169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50531" y="2770212"/>
            <a:ext cx="928688" cy="628650"/>
          </a:xfrm>
          <a:prstGeom prst="rect">
            <a:avLst/>
          </a:prstGeom>
          <a:solidFill>
            <a:srgbClr val="FFF0F0"/>
          </a:solidFill>
          <a:ln w="18288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250531" y="2770212"/>
            <a:ext cx="928688" cy="628650"/>
          </a:xfrm>
          <a:prstGeom prst="rect">
            <a:avLst/>
          </a:prstGeom>
          <a:noFill/>
          <a:ln/>
        </p:spPr>
        <p:txBody>
          <a:bodyPr wrap="square" lIns="85090" tIns="178562" rIns="85090" bIns="17856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Laundering
ring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3513162"/>
            <a:ext cx="472341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EARLY-WARNING OPPORTUNITY: BEFORE THE FINAL STAGE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544945" y="1385888"/>
            <a:ext cx="34204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FORENSIC VALUE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544945" y="1557338"/>
            <a:ext cx="342040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identification gives investigators more time to examine the network.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44945" y="2089658"/>
            <a:ext cx="34204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SCALE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544945" y="2261108"/>
            <a:ext cx="342040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transactions make complete manual examination impractical.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44945" y="2793429"/>
            <a:ext cx="34204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EVOLUTION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5544945" y="2964879"/>
            <a:ext cx="342040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behaviour may emerge gradually rather than in one transaction.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44945" y="3497200"/>
            <a:ext cx="34204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EXPLAINABILITY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5544945" y="3668650"/>
            <a:ext cx="3420405" cy="1554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Investigators need to know why a network was flagged.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0063" y="4461272"/>
            <a:ext cx="8143875" cy="382191"/>
          </a:xfrm>
          <a:prstGeom prst="rect">
            <a:avLst/>
          </a:prstGeom>
          <a:solidFill>
            <a:srgbClr val="FFF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00063" y="4461272"/>
            <a:ext cx="35719" cy="382191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00063" y="4461272"/>
            <a:ext cx="8143875" cy="38219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the focus from detecting a suspicious ring to detecting its evolution.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RESEARCH DESIGN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 and Questions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0063" y="1250156"/>
            <a:ext cx="390048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FIVE OBJECTIVES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500063" y="1518047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0063" y="1518047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E8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O1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942975" y="1518047"/>
            <a:ext cx="34575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financial transactions as a </a:t>
            </a:r>
            <a:r>
              <a:rPr lang="en-US" sz="8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time-evolving network</a:t>
            </a: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0063" y="1925241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0063" y="192524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E8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942975" y="1925241"/>
            <a:ext cx="34575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temporal, behavioural, and network characteristics.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0063" y="2332434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00063" y="2332434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E8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O3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942975" y="2332434"/>
            <a:ext cx="34575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laundering-related </a:t>
            </a:r>
            <a:r>
              <a:rPr lang="en-US" sz="8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fund-flow patterns</a:t>
            </a: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0063" y="2739628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00063" y="273962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E8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O4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942975" y="2739628"/>
            <a:ext cx="345757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emerging laundering rings as early as possible.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0063" y="3146822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00063" y="3146822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8E8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O5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942975" y="3146822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explainable risk scores with supporting forensic evidence.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43450" y="1250156"/>
            <a:ext cx="390048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FIVE RESEARCH QUESTIONS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743450" y="1518047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43450" y="1518047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8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RQ1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186363" y="1518047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temporal transaction-network behaviour identify emerging laundering patterns?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43450" y="1964643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743450" y="1964643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8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RQ2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186363" y="1964643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ring be detected before its complete suspicious structure becomes visible?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43450" y="2411239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743450" y="2411239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8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RQ3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5186363" y="2411239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temporal analysis improve early detection over static graph analysis?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43450" y="2857835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743450" y="2857835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8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RQ4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5186363" y="2857835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each warning be explained using transaction and network evidence?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43450" y="3304431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43450" y="330443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E855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RQ5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5186363" y="3304431"/>
            <a:ext cx="3457575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detection lead time is achieved while controlling false warnings?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0063" y="4339828"/>
            <a:ext cx="8143875" cy="503634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500063" y="4339828"/>
            <a:ext cx="8143875" cy="21431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57225" y="4543425"/>
            <a:ext cx="146446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CENTRAL RESEARCH QUESTION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5034390" y="4482703"/>
            <a:ext cx="345238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b="1" kern="0" spc="2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EARLY CAN WE KNOW?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84582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LITERATURE REVIEW · EVIDENCE MATRIX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42900" y="489347"/>
            <a:ext cx="845820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Directly Relevant Research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2900" y="792956"/>
            <a:ext cx="845820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Seven studies establish the building blocks; the highlighted gap column identifies the formation-stage opportunity.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346472" y="1071563"/>
            <a:ext cx="253492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46472" y="1071563"/>
            <a:ext cx="253492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599963" y="1071563"/>
            <a:ext cx="1605669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9963" y="1071563"/>
            <a:ext cx="1605669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Paper Title</a:t>
            </a:r>
            <a:endParaRPr lang="en-US" sz="450" dirty="0"/>
          </a:p>
        </p:txBody>
      </p:sp>
      <p:sp>
        <p:nvSpPr>
          <p:cNvPr id="10" name="Shape 7"/>
          <p:cNvSpPr/>
          <p:nvPr/>
        </p:nvSpPr>
        <p:spPr>
          <a:xfrm>
            <a:off x="2205633" y="1071563"/>
            <a:ext cx="845083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205633" y="1071563"/>
            <a:ext cx="845083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/ Year</a:t>
            </a:r>
            <a:endParaRPr lang="en-US" sz="450" dirty="0"/>
          </a:p>
        </p:txBody>
      </p:sp>
      <p:sp>
        <p:nvSpPr>
          <p:cNvPr id="12" name="Shape 9"/>
          <p:cNvSpPr/>
          <p:nvPr/>
        </p:nvSpPr>
        <p:spPr>
          <a:xfrm>
            <a:off x="3050716" y="1071563"/>
            <a:ext cx="1183128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050716" y="1071563"/>
            <a:ext cx="1183128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4233844" y="1071563"/>
            <a:ext cx="1436675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233844" y="1071563"/>
            <a:ext cx="1436675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450" dirty="0"/>
          </a:p>
        </p:txBody>
      </p:sp>
      <p:sp>
        <p:nvSpPr>
          <p:cNvPr id="16" name="Shape 13"/>
          <p:cNvSpPr/>
          <p:nvPr/>
        </p:nvSpPr>
        <p:spPr>
          <a:xfrm>
            <a:off x="5670519" y="1071563"/>
            <a:ext cx="1436675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670519" y="1071563"/>
            <a:ext cx="1436675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450" dirty="0"/>
          </a:p>
        </p:txBody>
      </p:sp>
      <p:sp>
        <p:nvSpPr>
          <p:cNvPr id="18" name="Shape 15"/>
          <p:cNvSpPr/>
          <p:nvPr/>
        </p:nvSpPr>
        <p:spPr>
          <a:xfrm>
            <a:off x="7107194" y="1071563"/>
            <a:ext cx="1690334" cy="195337"/>
          </a:xfrm>
          <a:prstGeom prst="rect">
            <a:avLst/>
          </a:prstGeom>
          <a:solidFill>
            <a:srgbClr val="6C63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107194" y="1071563"/>
            <a:ext cx="1690334" cy="195337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Gap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346472" y="1259756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[1]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599963" y="1259756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in Graphs of Bank Transactions for Anti Money Laundering Applications</a:t>
            </a:r>
            <a:endParaRPr lang="en-US" sz="450" dirty="0"/>
          </a:p>
        </p:txBody>
      </p:sp>
      <p:sp>
        <p:nvSpPr>
          <p:cNvPr id="22" name="Text 19"/>
          <p:cNvSpPr/>
          <p:nvPr/>
        </p:nvSpPr>
        <p:spPr>
          <a:xfrm>
            <a:off x="2205633" y="1259756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Access, 2022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3050716" y="1259756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transaction graph; synthetic anomalies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4233844" y="1259756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Reduced-egonet; random-walk/ring features; Isolation Forest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5670519" y="1259756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anomaly and circular-flow detection</a:t>
            </a:r>
            <a:endParaRPr lang="en-US" sz="450" dirty="0"/>
          </a:p>
        </p:txBody>
      </p:sp>
      <p:sp>
        <p:nvSpPr>
          <p:cNvPr id="26" name="Shape 23"/>
          <p:cNvSpPr/>
          <p:nvPr/>
        </p:nvSpPr>
        <p:spPr>
          <a:xfrm>
            <a:off x="7107194" y="1259756"/>
            <a:ext cx="1690334" cy="435769"/>
          </a:xfrm>
          <a:prstGeom prst="rect">
            <a:avLst/>
          </a:prstGeom>
          <a:solidFill>
            <a:srgbClr val="FFF0F0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107194" y="1259756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transaction time not explicitly modelled.</a:t>
            </a:r>
            <a:endParaRPr lang="en-US" sz="450" dirty="0"/>
          </a:p>
        </p:txBody>
      </p:sp>
      <p:sp>
        <p:nvSpPr>
          <p:cNvPr id="28" name="Shape 25"/>
          <p:cNvSpPr/>
          <p:nvPr/>
        </p:nvSpPr>
        <p:spPr>
          <a:xfrm>
            <a:off x="346472" y="1695524"/>
            <a:ext cx="253492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46472" y="1695524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[2]</a:t>
            </a:r>
            <a:endParaRPr lang="en-US" sz="500" dirty="0"/>
          </a:p>
        </p:txBody>
      </p:sp>
      <p:sp>
        <p:nvSpPr>
          <p:cNvPr id="30" name="Shape 27"/>
          <p:cNvSpPr/>
          <p:nvPr/>
        </p:nvSpPr>
        <p:spPr>
          <a:xfrm>
            <a:off x="599963" y="1695524"/>
            <a:ext cx="1605669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99963" y="1695524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Hawala Network for Money Laundering by Graph Mining</a:t>
            </a:r>
            <a:endParaRPr lang="en-US" sz="450" dirty="0"/>
          </a:p>
        </p:txBody>
      </p:sp>
      <p:sp>
        <p:nvSpPr>
          <p:cNvPr id="32" name="Shape 29"/>
          <p:cNvSpPr/>
          <p:nvPr/>
        </p:nvSpPr>
        <p:spPr>
          <a:xfrm>
            <a:off x="2205633" y="1695524"/>
            <a:ext cx="845083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2205633" y="1695524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Elsevier, 2024</a:t>
            </a:r>
            <a:endParaRPr lang="en-US" sz="450" dirty="0"/>
          </a:p>
        </p:txBody>
      </p:sp>
      <p:sp>
        <p:nvSpPr>
          <p:cNvPr id="34" name="Shape 31"/>
          <p:cNvSpPr/>
          <p:nvPr/>
        </p:nvSpPr>
        <p:spPr>
          <a:xfrm>
            <a:off x="3050716" y="1695524"/>
            <a:ext cx="1183128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3050716" y="1695524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Berka; augmented transactions</a:t>
            </a:r>
            <a:endParaRPr lang="en-US" sz="450" dirty="0"/>
          </a:p>
        </p:txBody>
      </p:sp>
      <p:sp>
        <p:nvSpPr>
          <p:cNvPr id="36" name="Shape 33"/>
          <p:cNvSpPr/>
          <p:nvPr/>
        </p:nvSpPr>
        <p:spPr>
          <a:xfrm>
            <a:off x="4233844" y="1695524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233844" y="1695524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Blackhole; hidden-link metrics; PageRank; graph ranking</a:t>
            </a:r>
            <a:endParaRPr lang="en-US" sz="450" dirty="0"/>
          </a:p>
        </p:txBody>
      </p:sp>
      <p:sp>
        <p:nvSpPr>
          <p:cNvPr id="38" name="Shape 35"/>
          <p:cNvSpPr/>
          <p:nvPr/>
        </p:nvSpPr>
        <p:spPr>
          <a:xfrm>
            <a:off x="5670519" y="1695524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670519" y="1695524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Hawala structure detection and ranking</a:t>
            </a:r>
            <a:endParaRPr lang="en-US" sz="450" dirty="0"/>
          </a:p>
        </p:txBody>
      </p:sp>
      <p:sp>
        <p:nvSpPr>
          <p:cNvPr id="40" name="Shape 37"/>
          <p:cNvSpPr/>
          <p:nvPr/>
        </p:nvSpPr>
        <p:spPr>
          <a:xfrm>
            <a:off x="7107194" y="1695524"/>
            <a:ext cx="1690334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7107194" y="1695524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Hawala-specific; not general formation-stage warning.</a:t>
            </a:r>
            <a:endParaRPr lang="en-US" sz="450" dirty="0"/>
          </a:p>
        </p:txBody>
      </p:sp>
      <p:sp>
        <p:nvSpPr>
          <p:cNvPr id="42" name="Text 39"/>
          <p:cNvSpPr/>
          <p:nvPr/>
        </p:nvSpPr>
        <p:spPr>
          <a:xfrm>
            <a:off x="346472" y="2131293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[3]</a:t>
            </a:r>
            <a:endParaRPr lang="en-US" sz="500" dirty="0"/>
          </a:p>
        </p:txBody>
      </p:sp>
      <p:sp>
        <p:nvSpPr>
          <p:cNvPr id="43" name="Text 40"/>
          <p:cNvSpPr/>
          <p:nvPr/>
        </p:nvSpPr>
        <p:spPr>
          <a:xfrm>
            <a:off x="599963" y="2131293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TMAS: A Transaction Misbehavior Analysis Scheme for Blockchain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2205633" y="2131293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Elsevier, 2024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3050716" y="2131293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Bitcoin transactions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4233844" y="2131293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Indicators; linkage; circular/indirect patterns</a:t>
            </a:r>
            <a:endParaRPr lang="en-US" sz="450" dirty="0"/>
          </a:p>
        </p:txBody>
      </p:sp>
      <p:sp>
        <p:nvSpPr>
          <p:cNvPr id="47" name="Text 44"/>
          <p:cNvSpPr/>
          <p:nvPr/>
        </p:nvSpPr>
        <p:spPr>
          <a:xfrm>
            <a:off x="5670519" y="2131293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suspicious transaction analysis</a:t>
            </a:r>
            <a:endParaRPr lang="en-US" sz="450" dirty="0"/>
          </a:p>
        </p:txBody>
      </p:sp>
      <p:sp>
        <p:nvSpPr>
          <p:cNvPr id="48" name="Shape 45"/>
          <p:cNvSpPr/>
          <p:nvPr/>
        </p:nvSpPr>
        <p:spPr>
          <a:xfrm>
            <a:off x="7107194" y="2131293"/>
            <a:ext cx="1690334" cy="435769"/>
          </a:xfrm>
          <a:prstGeom prst="rect">
            <a:avLst/>
          </a:prstGeom>
          <a:solidFill>
            <a:srgbClr val="FFF0F0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7107194" y="2131293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formation not explicitly early warning.</a:t>
            </a:r>
            <a:endParaRPr lang="en-US" sz="450" dirty="0"/>
          </a:p>
        </p:txBody>
      </p:sp>
      <p:sp>
        <p:nvSpPr>
          <p:cNvPr id="50" name="Shape 47"/>
          <p:cNvSpPr/>
          <p:nvPr/>
        </p:nvSpPr>
        <p:spPr>
          <a:xfrm>
            <a:off x="346472" y="2567062"/>
            <a:ext cx="253492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346472" y="2567062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[4]</a:t>
            </a:r>
            <a:endParaRPr lang="en-US" sz="500" dirty="0"/>
          </a:p>
        </p:txBody>
      </p:sp>
      <p:sp>
        <p:nvSpPr>
          <p:cNvPr id="52" name="Shape 49"/>
          <p:cNvSpPr/>
          <p:nvPr/>
        </p:nvSpPr>
        <p:spPr>
          <a:xfrm>
            <a:off x="599963" y="2567062"/>
            <a:ext cx="1605669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599963" y="2567062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Networks-Based Anomaly Detection for Financial Transactions in Anti-Money Laundering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2205633" y="2567062"/>
            <a:ext cx="845083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2205633" y="2567062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Elsevier, 2025</a:t>
            </a:r>
            <a:endParaRPr lang="en-US" sz="450" dirty="0"/>
          </a:p>
        </p:txBody>
      </p:sp>
      <p:sp>
        <p:nvSpPr>
          <p:cNvPr id="56" name="Shape 53"/>
          <p:cNvSpPr/>
          <p:nvPr/>
        </p:nvSpPr>
        <p:spPr>
          <a:xfrm>
            <a:off x="3050716" y="2567062"/>
            <a:ext cx="1183128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050716" y="2567062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investigation data</a:t>
            </a:r>
            <a:endParaRPr lang="en-US" sz="450" dirty="0"/>
          </a:p>
        </p:txBody>
      </p:sp>
      <p:sp>
        <p:nvSpPr>
          <p:cNvPr id="58" name="Shape 55"/>
          <p:cNvSpPr/>
          <p:nvPr/>
        </p:nvSpPr>
        <p:spPr>
          <a:xfrm>
            <a:off x="4233844" y="2567062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4233844" y="2567062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Communities; density; cycles; LUNAR; temporal analysis</a:t>
            </a:r>
            <a:endParaRPr lang="en-US" sz="450" dirty="0"/>
          </a:p>
        </p:txBody>
      </p:sp>
      <p:sp>
        <p:nvSpPr>
          <p:cNvPr id="60" name="Shape 57"/>
          <p:cNvSpPr/>
          <p:nvPr/>
        </p:nvSpPr>
        <p:spPr>
          <a:xfrm>
            <a:off x="5670519" y="2567062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5670519" y="2567062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network/anomaly analysis</a:t>
            </a:r>
            <a:endParaRPr lang="en-US" sz="450" dirty="0"/>
          </a:p>
        </p:txBody>
      </p:sp>
      <p:sp>
        <p:nvSpPr>
          <p:cNvPr id="62" name="Shape 59"/>
          <p:cNvSpPr/>
          <p:nvPr/>
        </p:nvSpPr>
        <p:spPr>
          <a:xfrm>
            <a:off x="7107194" y="2567062"/>
            <a:ext cx="1690334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7107194" y="2567062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for emerging rings not central.</a:t>
            </a:r>
            <a:endParaRPr lang="en-US" sz="450" dirty="0"/>
          </a:p>
        </p:txBody>
      </p:sp>
      <p:sp>
        <p:nvSpPr>
          <p:cNvPr id="64" name="Text 61"/>
          <p:cNvSpPr/>
          <p:nvPr/>
        </p:nvSpPr>
        <p:spPr>
          <a:xfrm>
            <a:off x="346472" y="3002831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[5]</a:t>
            </a:r>
            <a:endParaRPr lang="en-US" sz="500" dirty="0"/>
          </a:p>
        </p:txBody>
      </p:sp>
      <p:sp>
        <p:nvSpPr>
          <p:cNvPr id="65" name="Text 62"/>
          <p:cNvSpPr/>
          <p:nvPr/>
        </p:nvSpPr>
        <p:spPr>
          <a:xfrm>
            <a:off x="599963" y="3002831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Graph-Based Hierarchical Representation Learning for Money Laundering Group Detection</a:t>
            </a:r>
            <a:endParaRPr lang="en-US" sz="450" dirty="0"/>
          </a:p>
        </p:txBody>
      </p:sp>
      <p:sp>
        <p:nvSpPr>
          <p:cNvPr id="66" name="Text 63"/>
          <p:cNvSpPr/>
          <p:nvPr/>
        </p:nvSpPr>
        <p:spPr>
          <a:xfrm>
            <a:off x="2205633" y="3002831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TIFS, 2025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3050716" y="3002831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GDSC; AMLSim</a:t>
            </a:r>
            <a:endParaRPr lang="en-US" sz="450" dirty="0"/>
          </a:p>
        </p:txBody>
      </p:sp>
      <p:sp>
        <p:nvSpPr>
          <p:cNvPr id="68" name="Text 65"/>
          <p:cNvSpPr/>
          <p:nvPr/>
        </p:nvSpPr>
        <p:spPr>
          <a:xfrm>
            <a:off x="4233844" y="3002831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Multi-view; heterogeneous graphs; hypergraphs</a:t>
            </a:r>
            <a:endParaRPr lang="en-US" sz="450" dirty="0"/>
          </a:p>
        </p:txBody>
      </p:sp>
      <p:sp>
        <p:nvSpPr>
          <p:cNvPr id="69" name="Text 66"/>
          <p:cNvSpPr/>
          <p:nvPr/>
        </p:nvSpPr>
        <p:spPr>
          <a:xfrm>
            <a:off x="5670519" y="3002831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laundering-group detection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7107194" y="3002831"/>
            <a:ext cx="1690334" cy="435769"/>
          </a:xfrm>
          <a:prstGeom prst="rect">
            <a:avLst/>
          </a:prstGeom>
          <a:solidFill>
            <a:srgbClr val="FFF0F0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8"/>
          <p:cNvSpPr/>
          <p:nvPr/>
        </p:nvSpPr>
        <p:spPr>
          <a:xfrm>
            <a:off x="7107194" y="3002831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identified; formation not explicitly tracked.</a:t>
            </a:r>
            <a:endParaRPr lang="en-US" sz="450" dirty="0"/>
          </a:p>
        </p:txBody>
      </p:sp>
      <p:sp>
        <p:nvSpPr>
          <p:cNvPr id="72" name="Shape 69"/>
          <p:cNvSpPr/>
          <p:nvPr/>
        </p:nvSpPr>
        <p:spPr>
          <a:xfrm>
            <a:off x="346472" y="3438599"/>
            <a:ext cx="253492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346472" y="3438599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[6]</a:t>
            </a:r>
            <a:endParaRPr lang="en-US" sz="500" dirty="0"/>
          </a:p>
        </p:txBody>
      </p:sp>
      <p:sp>
        <p:nvSpPr>
          <p:cNvPr id="74" name="Shape 71"/>
          <p:cNvSpPr/>
          <p:nvPr/>
        </p:nvSpPr>
        <p:spPr>
          <a:xfrm>
            <a:off x="599963" y="3438599"/>
            <a:ext cx="1605669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599963" y="3438599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GraphNet-Launder: A Graph-Based Deep Intelligence Framework for Real-Time Money Laundering Detection in Financial Networks</a:t>
            </a:r>
            <a:endParaRPr lang="en-US" sz="450" dirty="0"/>
          </a:p>
        </p:txBody>
      </p:sp>
      <p:sp>
        <p:nvSpPr>
          <p:cNvPr id="76" name="Shape 73"/>
          <p:cNvSpPr/>
          <p:nvPr/>
        </p:nvSpPr>
        <p:spPr>
          <a:xfrm>
            <a:off x="2205633" y="3438599"/>
            <a:ext cx="845083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4"/>
          <p:cNvSpPr/>
          <p:nvPr/>
        </p:nvSpPr>
        <p:spPr>
          <a:xfrm>
            <a:off x="2205633" y="3438599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IEEE, 2025</a:t>
            </a:r>
            <a:endParaRPr lang="en-US" sz="450" dirty="0"/>
          </a:p>
        </p:txBody>
      </p:sp>
      <p:sp>
        <p:nvSpPr>
          <p:cNvPr id="78" name="Shape 75"/>
          <p:cNvSpPr/>
          <p:nvPr/>
        </p:nvSpPr>
        <p:spPr>
          <a:xfrm>
            <a:off x="3050716" y="3438599"/>
            <a:ext cx="1183128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6"/>
          <p:cNvSpPr/>
          <p:nvPr/>
        </p:nvSpPr>
        <p:spPr>
          <a:xfrm>
            <a:off x="3050716" y="3438599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AMLSim; Elliptic</a:t>
            </a:r>
            <a:endParaRPr lang="en-US" sz="450" dirty="0"/>
          </a:p>
        </p:txBody>
      </p:sp>
      <p:sp>
        <p:nvSpPr>
          <p:cNvPr id="80" name="Shape 77"/>
          <p:cNvSpPr/>
          <p:nvPr/>
        </p:nvSpPr>
        <p:spPr>
          <a:xfrm>
            <a:off x="4233844" y="3438599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8"/>
          <p:cNvSpPr/>
          <p:nvPr/>
        </p:nvSpPr>
        <p:spPr>
          <a:xfrm>
            <a:off x="4233844" y="3438599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graphs; Temporal GNN/TGAT; attention</a:t>
            </a:r>
            <a:endParaRPr lang="en-US" sz="450" dirty="0"/>
          </a:p>
        </p:txBody>
      </p:sp>
      <p:sp>
        <p:nvSpPr>
          <p:cNvPr id="82" name="Shape 79"/>
          <p:cNvSpPr/>
          <p:nvPr/>
        </p:nvSpPr>
        <p:spPr>
          <a:xfrm>
            <a:off x="5670519" y="3438599"/>
            <a:ext cx="1436675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0"/>
          <p:cNvSpPr/>
          <p:nvPr/>
        </p:nvSpPr>
        <p:spPr>
          <a:xfrm>
            <a:off x="5670519" y="3438599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ring detection with interpretable attention</a:t>
            </a:r>
            <a:endParaRPr lang="en-US" sz="450" dirty="0"/>
          </a:p>
        </p:txBody>
      </p:sp>
      <p:sp>
        <p:nvSpPr>
          <p:cNvPr id="84" name="Shape 81"/>
          <p:cNvSpPr/>
          <p:nvPr/>
        </p:nvSpPr>
        <p:spPr>
          <a:xfrm>
            <a:off x="7107194" y="3438599"/>
            <a:ext cx="1690334" cy="435769"/>
          </a:xfrm>
          <a:prstGeom prst="rect">
            <a:avLst/>
          </a:prstGeom>
          <a:solidFill>
            <a:srgbClr val="FFFFFF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7107194" y="3438599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focus: early-stage detection and lead-time evaluation.</a:t>
            </a:r>
            <a:endParaRPr lang="en-US" sz="450" dirty="0"/>
          </a:p>
        </p:txBody>
      </p:sp>
      <p:sp>
        <p:nvSpPr>
          <p:cNvPr id="86" name="Text 83"/>
          <p:cNvSpPr/>
          <p:nvPr/>
        </p:nvSpPr>
        <p:spPr>
          <a:xfrm>
            <a:off x="346472" y="3874368"/>
            <a:ext cx="253492" cy="435769"/>
          </a:xfrm>
          <a:prstGeom prst="rect">
            <a:avLst/>
          </a:prstGeom>
          <a:noFill/>
          <a:ln/>
        </p:spPr>
        <p:txBody>
          <a:bodyPr wrap="none" lIns="51054" tIns="59563" rIns="51054" bIns="59563" rtlCol="0" anchor="t">
            <a:sp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[7]</a:t>
            </a:r>
            <a:endParaRPr lang="en-US" sz="500" dirty="0"/>
          </a:p>
        </p:txBody>
      </p:sp>
      <p:sp>
        <p:nvSpPr>
          <p:cNvPr id="87" name="Text 84"/>
          <p:cNvSpPr/>
          <p:nvPr/>
        </p:nvSpPr>
        <p:spPr>
          <a:xfrm>
            <a:off x="599963" y="3874368"/>
            <a:ext cx="1605669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Quantum-Enhanced AML: Hybrid Quantum–Classical Graph Learning With Entity Resolution and Evidence Subgraph Discovery for Transaction Screening</a:t>
            </a:r>
            <a:endParaRPr lang="en-US" sz="450" dirty="0"/>
          </a:p>
        </p:txBody>
      </p:sp>
      <p:sp>
        <p:nvSpPr>
          <p:cNvPr id="88" name="Text 85"/>
          <p:cNvSpPr/>
          <p:nvPr/>
        </p:nvSpPr>
        <p:spPr>
          <a:xfrm>
            <a:off x="2205633" y="3874368"/>
            <a:ext cx="845083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Access, 2026</a:t>
            </a:r>
            <a:endParaRPr lang="en-US" sz="450" dirty="0"/>
          </a:p>
        </p:txBody>
      </p:sp>
      <p:sp>
        <p:nvSpPr>
          <p:cNvPr id="89" name="Text 86"/>
          <p:cNvSpPr/>
          <p:nvPr/>
        </p:nvSpPr>
        <p:spPr>
          <a:xfrm>
            <a:off x="3050716" y="3874368"/>
            <a:ext cx="1183128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Elliptic2</a:t>
            </a:r>
            <a:endParaRPr lang="en-US" sz="450" dirty="0"/>
          </a:p>
        </p:txBody>
      </p:sp>
      <p:sp>
        <p:nvSpPr>
          <p:cNvPr id="90" name="Text 87"/>
          <p:cNvSpPr/>
          <p:nvPr/>
        </p:nvSpPr>
        <p:spPr>
          <a:xfrm>
            <a:off x="4233844" y="3874368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learning; entity resolution; risk scoring; evidence</a:t>
            </a:r>
            <a:endParaRPr lang="en-US" sz="450" dirty="0"/>
          </a:p>
        </p:txBody>
      </p:sp>
      <p:sp>
        <p:nvSpPr>
          <p:cNvPr id="91" name="Text 88"/>
          <p:cNvSpPr/>
          <p:nvPr/>
        </p:nvSpPr>
        <p:spPr>
          <a:xfrm>
            <a:off x="5670519" y="3874368"/>
            <a:ext cx="1436675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Time-aware screening with evidence output</a:t>
            </a:r>
            <a:endParaRPr lang="en-US" sz="450" dirty="0"/>
          </a:p>
        </p:txBody>
      </p:sp>
      <p:sp>
        <p:nvSpPr>
          <p:cNvPr id="92" name="Shape 89"/>
          <p:cNvSpPr/>
          <p:nvPr/>
        </p:nvSpPr>
        <p:spPr>
          <a:xfrm>
            <a:off x="7107194" y="3874368"/>
            <a:ext cx="1690334" cy="435769"/>
          </a:xfrm>
          <a:prstGeom prst="rect">
            <a:avLst/>
          </a:prstGeom>
          <a:solidFill>
            <a:srgbClr val="FFF0F0"/>
          </a:solidFill>
          <a:ln w="9144">
            <a:solidFill>
              <a:srgbClr val="CDD7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7107194" y="3874368"/>
            <a:ext cx="1690334" cy="435769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50" b="1" dirty="0">
                <a:solidFill>
                  <a:srgbClr val="C94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Formation-stage detection and lead-time evaluation remain open.</a:t>
            </a:r>
            <a:endParaRPr lang="en-US" sz="450" dirty="0"/>
          </a:p>
        </p:txBody>
      </p:sp>
      <p:sp>
        <p:nvSpPr>
          <p:cNvPr id="94" name="Shape 91"/>
          <p:cNvSpPr/>
          <p:nvPr/>
        </p:nvSpPr>
        <p:spPr>
          <a:xfrm>
            <a:off x="342900" y="4435153"/>
            <a:ext cx="8458200" cy="317897"/>
          </a:xfrm>
          <a:prstGeom prst="rect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2"/>
          <p:cNvSpPr/>
          <p:nvPr/>
        </p:nvSpPr>
        <p:spPr>
          <a:xfrm>
            <a:off x="342900" y="4435153"/>
            <a:ext cx="35719" cy="317897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3"/>
          <p:cNvSpPr/>
          <p:nvPr/>
        </p:nvSpPr>
        <p:spPr>
          <a:xfrm>
            <a:off x="342900" y="4435153"/>
            <a:ext cx="8458200" cy="317897"/>
          </a:xfrm>
          <a:prstGeom prst="rect">
            <a:avLst/>
          </a:prstGeom>
          <a:noFill/>
          <a:ln/>
        </p:spPr>
        <p:txBody>
          <a:bodyPr wrap="square" lIns="136017" tIns="110617" rIns="136017" bIns="110617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trajectory: transaction graphs </a:t>
            </a:r>
            <a:r>
              <a:rPr lang="en-US" sz="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 AML </a:t>
            </a:r>
            <a:r>
              <a:rPr lang="en-US" sz="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detection </a:t>
            </a:r>
            <a:r>
              <a:rPr lang="en-US" sz="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temporal learning </a:t>
            </a:r>
            <a:r>
              <a:rPr lang="en-US" sz="8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explainable AML.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LITERATURE SYNTHESIS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the Literature Already Solved?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0063" y="928688"/>
            <a:ext cx="81438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 are established; the opportunity is to connect them around evolving-ring early warning.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0063" y="1446609"/>
            <a:ext cx="37461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ESTABLISHED AML CAPABILITIES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00063" y="171450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AML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60484" y="171450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0063" y="200025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Circular-flow detection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60484" y="200025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0063" y="228600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Laundering-group detection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60484" y="228600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0063" y="257175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graph learning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60484" y="257175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0063" y="285750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detection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60484" y="285750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0063" y="314325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AML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60484" y="314325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0063" y="3429000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generation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960484" y="3429000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0063" y="3914775"/>
            <a:ext cx="37461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 OPPORTUNITY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00063" y="4182666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Formation-stage early warning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960484" y="4182666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0063" y="4468416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lead-time evaluation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960484" y="4468416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0063" y="4754166"/>
            <a:ext cx="346042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pattern trajectory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960484" y="4754166"/>
            <a:ext cx="285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32021" y="1332309"/>
            <a:ext cx="413332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FOUR RESEARCH-GAP TRANSITIONS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832021" y="1607344"/>
            <a:ext cx="41333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Detection </a:t>
            </a: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detection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32021" y="1818084"/>
            <a:ext cx="41333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suspicious?” </a:t>
            </a:r>
            <a:r>
              <a:rPr lang="en-US" sz="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“Is it becoming suspicious?”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32021" y="2164556"/>
            <a:ext cx="41333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Structure </a:t>
            </a: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32021" y="2375297"/>
            <a:ext cx="41333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 observable ring </a:t>
            </a:r>
            <a:r>
              <a:rPr lang="en-US" sz="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how the ring forms.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832021" y="2721769"/>
            <a:ext cx="41333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Pattern </a:t>
            </a: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Trajectory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32021" y="2932509"/>
            <a:ext cx="41333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motif </a:t>
            </a:r>
            <a:r>
              <a:rPr lang="en-US" sz="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 of evolving motifs.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32021" y="3278981"/>
            <a:ext cx="413332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· Accuracy </a:t>
            </a:r>
            <a:r>
              <a:rPr lang="en-US" sz="10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time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32021" y="3489722"/>
            <a:ext cx="413332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/ AUC </a:t>
            </a:r>
            <a:r>
              <a:rPr lang="en-US" sz="8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 / AUC + How early?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27895" y="3831573"/>
            <a:ext cx="8143875" cy="378619"/>
          </a:xfrm>
          <a:prstGeom prst="rect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8" name="Shape 35"/>
          <p:cNvSpPr/>
          <p:nvPr/>
        </p:nvSpPr>
        <p:spPr>
          <a:xfrm>
            <a:off x="500063" y="4464844"/>
            <a:ext cx="35719" cy="378619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2081190" y="3781566"/>
            <a:ext cx="8143875" cy="378619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The research gap lies in the </a:t>
            </a: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toward a suspicious ring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merely the final ring itself.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 / RESEARCH CONTRIBUTION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Research Novelty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0063" y="971550"/>
            <a:ext cx="75009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 is not a new graph, GNN, or risk score in isolation.</a:t>
            </a: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the explicit framing of evolving laundering-ring behaviour as a formation-stage early-warning problem.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0063" y="1583010"/>
            <a:ext cx="1543050" cy="1750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0063" y="1583010"/>
            <a:ext cx="1543050" cy="35719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14363" y="1697310"/>
            <a:ext cx="13144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EARLY IDENTIFICATION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14363" y="2061642"/>
            <a:ext cx="1314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 → ◉ → 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4363" y="2422401"/>
            <a:ext cx="1314450" cy="29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during formation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4363" y="2796667"/>
            <a:ext cx="1314450" cy="569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64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laundering-ring behaviour before the suspicious structure is complete.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50269" y="1583010"/>
            <a:ext cx="1543050" cy="1750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150269" y="1583010"/>
            <a:ext cx="1543050" cy="35719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264569" y="1697310"/>
            <a:ext cx="13144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TEMPORAL EVOLUTION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264569" y="2061642"/>
            <a:ext cx="1314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t₁ → t₂ → t₃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264569" y="2422401"/>
            <a:ext cx="1314450" cy="29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change over time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64569" y="2796667"/>
            <a:ext cx="1314450" cy="569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64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how suspicious network behaviour changes across successive windows.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800475" y="1583010"/>
            <a:ext cx="1543050" cy="1750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800475" y="1583010"/>
            <a:ext cx="1543050" cy="35719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914775" y="1697310"/>
            <a:ext cx="13144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PATTERN TRAJECTORY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914775" y="2061642"/>
            <a:ext cx="1314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 → ↘ → ↻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14775" y="2422401"/>
            <a:ext cx="1314450" cy="147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sequences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914775" y="2648824"/>
            <a:ext cx="1314450" cy="42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64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Fan-in → layering → fan-out → emerging cycle becomes a trajectory.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50681" y="1583010"/>
            <a:ext cx="1543050" cy="1750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450681" y="1583010"/>
            <a:ext cx="1543050" cy="35719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564981" y="1697310"/>
            <a:ext cx="13144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DETECTION LEAD TIME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564981" y="2061642"/>
            <a:ext cx="1314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D−3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564981" y="2422401"/>
            <a:ext cx="1314450" cy="147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how early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64981" y="2648824"/>
            <a:ext cx="1314450" cy="42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64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warning time before the ring becomes fully observable.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100888" y="1583010"/>
            <a:ext cx="1543050" cy="1750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7100888" y="1583010"/>
            <a:ext cx="1543050" cy="35719"/>
          </a:xfrm>
          <a:prstGeom prst="rect">
            <a:avLst/>
          </a:prstGeom>
          <a:solidFill>
            <a:srgbClr val="3282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7215188" y="1697310"/>
            <a:ext cx="13144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EXPLAINABLE RISK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215188" y="1943770"/>
            <a:ext cx="13144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28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87/100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215188" y="2304529"/>
            <a:ext cx="1314450" cy="147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evidence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215188" y="2530952"/>
            <a:ext cx="1314450" cy="569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64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each score to time, accounts, transactions, paths, and risk factors.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00063" y="4296296"/>
            <a:ext cx="8143875" cy="547167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500063" y="4296296"/>
            <a:ext cx="8143875" cy="21431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0063" y="4296296"/>
            <a:ext cx="8143875" cy="5471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marL="0" indent="0" algn="l">
              <a:lnSpc>
                <a:spcPct val="138667"/>
              </a:lnSpc>
              <a:buNone/>
            </a:pPr>
            <a:r>
              <a:rPr lang="en-US" sz="600" b="1" kern="0" spc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ACADEMIC POSITIONING</a:t>
            </a:r>
            <a:r>
              <a:rPr lang="en-US" sz="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research establishes the building blocks; this work focuses specifically on 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formation-stage early warning</a:t>
            </a:r>
            <a:r>
              <a:rPr lang="en-US" sz="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explicit </a:t>
            </a: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 evaluation</a:t>
            </a:r>
            <a:r>
              <a:rPr lang="en-US" sz="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explainable forensic evidence.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906" y="342900"/>
            <a:ext cx="83581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 / PROPOSED SOLUTION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392906" y="578644"/>
            <a:ext cx="83581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— From Transactions to Forensic Warning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2906" y="950119"/>
            <a:ext cx="75009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evaluate whether transaction evolution is becoming increasingly consistent with a laundering-ring pattern.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906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92906" y="1493044"/>
            <a:ext cx="982266" cy="42863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64344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4344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4344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
TRANSACTIONS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4344" y="2593851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sender · receiver
amount · time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1332309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446609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446609" y="1493044"/>
            <a:ext cx="982266" cy="42863"/>
          </a:xfrm>
          <a:prstGeom prst="rect">
            <a:avLst/>
          </a:prstGeom>
          <a:solidFill>
            <a:srgbClr val="3282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518047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1518047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◉↔◉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18047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
NETWORK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518047" y="2593851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accounts as nodes
flows as edges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2386013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500313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500313" y="1493044"/>
            <a:ext cx="982266" cy="42863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571750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2571750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ƒ(x)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571750" y="2282428"/>
            <a:ext cx="83939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571750" y="2473858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velocity · gaps
connectivity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3439716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554016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554016" y="1493044"/>
            <a:ext cx="982266" cy="42863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625453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3625453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↗↘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625453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FUND-FLOW
PATTERNS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625453" y="2593851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fan-in · layering
fan-out · cycles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4493419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607719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607719" y="1493044"/>
            <a:ext cx="982266" cy="42863"/>
          </a:xfrm>
          <a:prstGeom prst="rect">
            <a:avLst/>
          </a:prstGeom>
          <a:solidFill>
            <a:srgbClr val="F28F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679156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4679156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t₁→t₂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679156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
EVOLUTION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679156" y="2593851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appearance
combination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5547122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661422" y="1493044"/>
            <a:ext cx="982266" cy="1571625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5661422" y="1493044"/>
            <a:ext cx="982266" cy="42863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732859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5732859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732859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
RING RISK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732859" y="2593851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early warning
score 0–100</a:t>
            </a:r>
            <a:endParaRPr lang="en-US" sz="550" dirty="0"/>
          </a:p>
        </p:txBody>
      </p:sp>
      <p:sp>
        <p:nvSpPr>
          <p:cNvPr id="47" name="Text 44"/>
          <p:cNvSpPr/>
          <p:nvPr/>
        </p:nvSpPr>
        <p:spPr>
          <a:xfrm>
            <a:off x="6600825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6715125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6715125" y="1493044"/>
            <a:ext cx="982266" cy="42863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6786563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</a:t>
            </a:r>
            <a:endParaRPr lang="en-US" sz="550" dirty="0"/>
          </a:p>
        </p:txBody>
      </p:sp>
      <p:sp>
        <p:nvSpPr>
          <p:cNvPr id="51" name="Text 48"/>
          <p:cNvSpPr/>
          <p:nvPr/>
        </p:nvSpPr>
        <p:spPr>
          <a:xfrm>
            <a:off x="6786563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786563" y="2282428"/>
            <a:ext cx="83939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6786563" y="2473858"/>
            <a:ext cx="839391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paths · accounts
transactions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7654528" y="2264569"/>
            <a:ext cx="1714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7768828" y="1493044"/>
            <a:ext cx="982266" cy="1571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7768828" y="1493044"/>
            <a:ext cx="982266" cy="42863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7840266" y="1600200"/>
            <a:ext cx="8393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08</a:t>
            </a:r>
            <a:endParaRPr lang="en-US" sz="550" dirty="0"/>
          </a:p>
        </p:txBody>
      </p:sp>
      <p:sp>
        <p:nvSpPr>
          <p:cNvPr id="58" name="Text 55"/>
          <p:cNvSpPr/>
          <p:nvPr/>
        </p:nvSpPr>
        <p:spPr>
          <a:xfrm>
            <a:off x="7840266" y="1907381"/>
            <a:ext cx="839391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7840266" y="2282428"/>
            <a:ext cx="83939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
PRIORITY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7840266" y="2593851"/>
            <a:ext cx="839391" cy="1060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warning → action</a:t>
            </a:r>
            <a:endParaRPr lang="en-US" sz="550" dirty="0"/>
          </a:p>
        </p:txBody>
      </p:sp>
      <p:sp>
        <p:nvSpPr>
          <p:cNvPr id="61" name="Shape 58"/>
          <p:cNvSpPr/>
          <p:nvPr/>
        </p:nvSpPr>
        <p:spPr>
          <a:xfrm>
            <a:off x="392906" y="4393406"/>
            <a:ext cx="8358188" cy="435769"/>
          </a:xfrm>
          <a:prstGeom prst="rect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392906" y="4393406"/>
            <a:ext cx="8358188" cy="21431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92906" y="4393406"/>
            <a:ext cx="8358188" cy="43576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ctr">
              <a:buNone/>
            </a:pPr>
            <a:r>
              <a:rPr lang="en-US" sz="950" b="1" kern="0" spc="2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OBSERVE</a:t>
            </a:r>
            <a:r>
              <a:rPr lang="en-US" sz="950" b="1" kern="0" spc="2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→ </a:t>
            </a:r>
            <a:r>
              <a:rPr lang="en-US" sz="950" b="1" kern="0" spc="2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TRACK</a:t>
            </a:r>
            <a:r>
              <a:rPr lang="en-US" sz="950" b="1" kern="0" spc="2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→ </a:t>
            </a:r>
            <a:r>
              <a:rPr lang="en-US" sz="950" b="1" kern="0" spc="2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WARN</a:t>
            </a:r>
            <a:r>
              <a:rPr lang="en-US" sz="950" b="1" kern="0" spc="2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→ </a:t>
            </a:r>
            <a:r>
              <a:rPr lang="en-US" sz="950" b="1" kern="0" spc="2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EXPLAIN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08 / METHODOLOGY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00063" y="578644"/>
            <a:ext cx="8143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0063" y="935831"/>
            <a:ext cx="81438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convert raw transaction activity into an explainable, investigation-ready early warning.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000125" y="1300163"/>
            <a:ext cx="2786063" cy="642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00125" y="1300163"/>
            <a:ext cx="2786063" cy="28575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914775" y="1393031"/>
            <a:ext cx="242888" cy="242888"/>
          </a:xfrm>
          <a:prstGeom prst="ellipse">
            <a:avLst/>
          </a:prstGeom>
          <a:solidFill>
            <a:srgbClr val="E7F7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914775" y="139303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114425" y="1385888"/>
            <a:ext cx="25574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PREPARATION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→ Validate → Order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114425" y="1578769"/>
            <a:ext cx="25574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validate, de-duplicate, and chronologically order the transaction stream.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357813" y="1928813"/>
            <a:ext cx="2786063" cy="642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357813" y="1928813"/>
            <a:ext cx="2786063" cy="28575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986338" y="2021681"/>
            <a:ext cx="242888" cy="242888"/>
          </a:xfrm>
          <a:prstGeom prst="ellipse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6338" y="202168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5472113" y="2014538"/>
            <a:ext cx="25574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TEMPORAL GRAPH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+ transactions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5472113" y="2207419"/>
            <a:ext cx="25574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= node · transaction = directed edge · amount = weight · timestamp = evolution.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000125" y="2557463"/>
            <a:ext cx="2786063" cy="792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1000125" y="2557463"/>
            <a:ext cx="2786063" cy="28575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914775" y="2650331"/>
            <a:ext cx="242888" cy="242888"/>
          </a:xfrm>
          <a:prstGeom prst="ellipse">
            <a:avLst/>
          </a:prstGeom>
          <a:solidFill>
            <a:srgbClr val="FFF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914775" y="265033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C18A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1114425" y="2643188"/>
            <a:ext cx="2557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FEATURE ENGINEERING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+ network signals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1114425" y="2986088"/>
            <a:ext cx="25574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Velocity, frequency, time gaps, amount behaviour, connectivity, and account activity.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357813" y="3186113"/>
            <a:ext cx="2786063" cy="6429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357813" y="3186113"/>
            <a:ext cx="2786063" cy="28575"/>
          </a:xfrm>
          <a:prstGeom prst="rect">
            <a:avLst/>
          </a:prstGeom>
          <a:solidFill>
            <a:srgbClr val="3282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986338" y="3278981"/>
            <a:ext cx="242888" cy="242888"/>
          </a:xfrm>
          <a:prstGeom prst="ellipse">
            <a:avLst/>
          </a:prstGeom>
          <a:solidFill>
            <a:srgbClr val="EAF4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986338" y="327898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282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5472113" y="3271838"/>
            <a:ext cx="25574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PATTERN ANALYSIS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Fund-flow motifs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5472113" y="3464719"/>
            <a:ext cx="25574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Fan-in, fan-out, layering, split-merge, cycles, and combinations over time.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000125" y="3814763"/>
            <a:ext cx="2786063" cy="792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1000125" y="3814763"/>
            <a:ext cx="2786063" cy="28575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914775" y="3907631"/>
            <a:ext cx="242888" cy="242888"/>
          </a:xfrm>
          <a:prstGeom prst="ellipse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3914775" y="3907631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1114425" y="3900488"/>
            <a:ext cx="25574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EARLY-WARNING OUTPUT</a:t>
            </a:r>
            <a:r>
              <a:rPr lang="en-US" sz="9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 evidence + priority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1114425" y="4243388"/>
            <a:ext cx="255746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explainable risk score with supporting forensic evidence.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00063" y="4654153"/>
            <a:ext cx="8143875" cy="2250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500063" y="4654153"/>
            <a:ext cx="8143875" cy="14288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00063" y="4654153"/>
            <a:ext cx="8143875" cy="225028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COLLECTION → PREPROCESSING → TEMPORAL / NETWORK ANALYSIS → ANOMALY DETECTION → </a:t>
            </a:r>
            <a:r>
              <a:rPr lang="en-US" sz="600" b="1" kern="0" spc="1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FORENSIC PRIORITY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78606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09 / SYSTEM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00063" y="482203"/>
            <a:ext cx="81438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Forensic Early-Warning Architecture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00063" y="785813"/>
            <a:ext cx="81438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→ ANALYSIS → DETECTION → EVIDENCE → INVESTIGATION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3143250" y="1021556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214688" y="1078706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STREAM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214688" y="1202271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Sender | Receiver | Amount | Timestamp</a:t>
            </a:r>
            <a:endParaRPr lang="en-US" sz="500" dirty="0"/>
          </a:p>
        </p:txBody>
      </p:sp>
      <p:sp>
        <p:nvSpPr>
          <p:cNvPr id="9" name="Shape 6"/>
          <p:cNvSpPr/>
          <p:nvPr/>
        </p:nvSpPr>
        <p:spPr>
          <a:xfrm>
            <a:off x="4557713" y="1343025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143250" y="1457325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328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14688" y="1514475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214688" y="1638040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Clean | Validate | De-duplicate | Chronologically order</a:t>
            </a:r>
            <a:endParaRPr lang="en-US" sz="500" dirty="0"/>
          </a:p>
        </p:txBody>
      </p:sp>
      <p:sp>
        <p:nvSpPr>
          <p:cNvPr id="13" name="Shape 10"/>
          <p:cNvSpPr/>
          <p:nvPr/>
        </p:nvSpPr>
        <p:spPr>
          <a:xfrm>
            <a:off x="4557713" y="1778794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43250" y="1893094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214688" y="1950244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TRANSACTION NETWORK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214688" y="2073808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Nodes = Accounts · Edges = Transactions · Weight = Amount</a:t>
            </a:r>
            <a:endParaRPr lang="en-US" sz="500" dirty="0"/>
          </a:p>
        </p:txBody>
      </p:sp>
      <p:sp>
        <p:nvSpPr>
          <p:cNvPr id="17" name="Shape 14"/>
          <p:cNvSpPr/>
          <p:nvPr/>
        </p:nvSpPr>
        <p:spPr>
          <a:xfrm>
            <a:off x="1521619" y="2235994"/>
            <a:ext cx="1271588" cy="328613"/>
          </a:xfrm>
          <a:prstGeom prst="rect">
            <a:avLst/>
          </a:prstGeom>
          <a:solidFill>
            <a:srgbClr val="F0EEFF"/>
          </a:solidFill>
          <a:ln w="18288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607288" y="2293144"/>
            <a:ext cx="110019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FEATURES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557338" y="2414588"/>
            <a:ext cx="120015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velocity · frequency · gaps</a:t>
            </a:r>
            <a:endParaRPr lang="en-US" sz="450" dirty="0"/>
          </a:p>
        </p:txBody>
      </p:sp>
      <p:sp>
        <p:nvSpPr>
          <p:cNvPr id="20" name="Shape 17"/>
          <p:cNvSpPr/>
          <p:nvPr/>
        </p:nvSpPr>
        <p:spPr>
          <a:xfrm>
            <a:off x="6350794" y="2235994"/>
            <a:ext cx="1271588" cy="328613"/>
          </a:xfrm>
          <a:prstGeom prst="rect">
            <a:avLst/>
          </a:prstGeom>
          <a:solidFill>
            <a:srgbClr val="F0EEFF"/>
          </a:solidFill>
          <a:ln w="18288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525425" y="2293144"/>
            <a:ext cx="92232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FEATURES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386513" y="2414588"/>
            <a:ext cx="120015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connectivity · density · paths</a:t>
            </a:r>
            <a:endParaRPr lang="en-US" sz="450" dirty="0"/>
          </a:p>
        </p:txBody>
      </p:sp>
      <p:sp>
        <p:nvSpPr>
          <p:cNvPr id="23" name="Shape 20"/>
          <p:cNvSpPr/>
          <p:nvPr/>
        </p:nvSpPr>
        <p:spPr>
          <a:xfrm>
            <a:off x="2150269" y="2557463"/>
            <a:ext cx="4993481" cy="21431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57713" y="2557463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557713" y="2214563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143250" y="2578894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214688" y="2636044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FUND-FLOW PATTERNS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214688" y="2759608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Fan-in | Fan-out | Layering | Split-Merge | Cycle</a:t>
            </a:r>
            <a:endParaRPr lang="en-US" sz="500" dirty="0"/>
          </a:p>
        </p:txBody>
      </p:sp>
      <p:sp>
        <p:nvSpPr>
          <p:cNvPr id="29" name="Shape 26"/>
          <p:cNvSpPr/>
          <p:nvPr/>
        </p:nvSpPr>
        <p:spPr>
          <a:xfrm>
            <a:off x="4557713" y="2900363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3143250" y="3014663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F28F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3214688" y="3071813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EVOLUTION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214688" y="3195377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Appearance → Combination → Emerging Ring</a:t>
            </a:r>
            <a:endParaRPr lang="en-US" sz="500" dirty="0"/>
          </a:p>
        </p:txBody>
      </p:sp>
      <p:sp>
        <p:nvSpPr>
          <p:cNvPr id="33" name="Shape 30"/>
          <p:cNvSpPr/>
          <p:nvPr/>
        </p:nvSpPr>
        <p:spPr>
          <a:xfrm>
            <a:off x="4557713" y="3336131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3143250" y="3450431"/>
            <a:ext cx="2857500" cy="321469"/>
          </a:xfrm>
          <a:prstGeom prst="rect">
            <a:avLst/>
          </a:prstGeom>
          <a:solidFill>
            <a:srgbClr val="FFF0F0"/>
          </a:solidFill>
          <a:ln w="18288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3214688" y="3507581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RING RISK SCORE · 0–100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3214688" y="3631146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Formation-stage warning before completion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4557713" y="3771900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3143250" y="3886200"/>
            <a:ext cx="28575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328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3214688" y="3943350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EVIDENCE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3214688" y="4066915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Time | Accounts | Paths | Transactions | Risk Factors</a:t>
            </a:r>
            <a:endParaRPr lang="en-US" sz="500" dirty="0"/>
          </a:p>
        </p:txBody>
      </p:sp>
      <p:sp>
        <p:nvSpPr>
          <p:cNvPr id="41" name="Shape 38"/>
          <p:cNvSpPr/>
          <p:nvPr/>
        </p:nvSpPr>
        <p:spPr>
          <a:xfrm>
            <a:off x="4557713" y="4207669"/>
            <a:ext cx="21431" cy="1143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3143250" y="4321969"/>
            <a:ext cx="2857500" cy="321469"/>
          </a:xfrm>
          <a:prstGeom prst="rect">
            <a:avLst/>
          </a:prstGeom>
          <a:solidFill>
            <a:srgbClr val="FFF0F0"/>
          </a:solidFill>
          <a:ln w="18288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3214688" y="4379119"/>
            <a:ext cx="271462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INVESTIGATOR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3214688" y="4502683"/>
            <a:ext cx="27146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Warning → Evidence → Investigation Priority</a:t>
            </a:r>
            <a:endParaRPr lang="en-US" sz="500" dirty="0"/>
          </a:p>
        </p:txBody>
      </p:sp>
      <p:sp>
        <p:nvSpPr>
          <p:cNvPr id="45" name="Shape 42"/>
          <p:cNvSpPr/>
          <p:nvPr/>
        </p:nvSpPr>
        <p:spPr>
          <a:xfrm>
            <a:off x="500063" y="4800600"/>
            <a:ext cx="8143875" cy="1857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500063" y="4800600"/>
            <a:ext cx="8143875" cy="7144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00063" y="4879181"/>
            <a:ext cx="43377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Design principle:</a:t>
            </a: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Every warning preserves temporal and network evidence for forensic review.</a:t>
            </a:r>
            <a:endParaRPr lang="en-US" sz="550" dirty="0"/>
          </a:p>
        </p:txBody>
      </p:sp>
      <p:sp>
        <p:nvSpPr>
          <p:cNvPr id="48" name="Text 45"/>
          <p:cNvSpPr/>
          <p:nvPr/>
        </p:nvSpPr>
        <p:spPr>
          <a:xfrm>
            <a:off x="7135155" y="4879181"/>
            <a:ext cx="15087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OBSERVE · TRACK · WARN · EXPLAIN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42900"/>
            <a:ext cx="82153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 / DATASET + EXPERIMENTAL DESIGN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64344" y="578644"/>
            <a:ext cx="82153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Strategy and Experimental Evaluation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64344" y="921544"/>
            <a:ext cx="821531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controlled development, external validation, established baselines, and the primary forensic measure: detection lead time.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4344" y="1432322"/>
            <a:ext cx="25467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DATASET STRATEGY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464344" y="1650206"/>
            <a:ext cx="2546747" cy="9458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64344" y="1650206"/>
            <a:ext cx="2546747" cy="28575"/>
          </a:xfrm>
          <a:prstGeom prst="rect">
            <a:avLst/>
          </a:prstGeom>
          <a:solidFill>
            <a:srgbClr val="00A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4356" y="1743075"/>
            <a:ext cx="234672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AMLSim </a:t>
            </a:r>
            <a:r>
              <a:rPr lang="en-US" sz="500" b="1" dirty="0">
                <a:solidFill>
                  <a:srgbClr val="00A6A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PRIMARY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4356" y="1946672"/>
            <a:ext cx="2346722" cy="527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AML-specific, public/reproducible, timestamped, graph-compatible, with known laundering scenarios. Used for development and early-warning experiments.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64344" y="2674665"/>
            <a:ext cx="2546747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4344" y="2674665"/>
            <a:ext cx="2546747" cy="28575"/>
          </a:xfrm>
          <a:prstGeom prst="rect">
            <a:avLst/>
          </a:prstGeom>
          <a:solidFill>
            <a:srgbClr val="3282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4356" y="2767533"/>
            <a:ext cx="234672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Elliptic2 </a:t>
            </a:r>
            <a:r>
              <a:rPr lang="en-US" sz="500" b="1" dirty="0">
                <a:solidFill>
                  <a:srgbClr val="3282B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SECONDARY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4356" y="2971130"/>
            <a:ext cx="2346722" cy="2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 of suspicious graph/subgraph detection. Not assumed identical to AMLSim.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4344" y="3639071"/>
            <a:ext cx="2546747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Dataset provenance is distinct from Kaggle access/distribution.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189684" y="1432322"/>
            <a:ext cx="25467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COMPARISON DESIGN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189684" y="1728788"/>
            <a:ext cx="2714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B1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532584" y="1728788"/>
            <a:ext cx="220384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graph anomaly detection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189684" y="2143125"/>
            <a:ext cx="2714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B2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532584" y="2143125"/>
            <a:ext cx="220384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/ behavioural machine learning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189684" y="2557463"/>
            <a:ext cx="2714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B3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532584" y="2557463"/>
            <a:ext cx="220384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temporal graph approach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189684" y="2971800"/>
            <a:ext cx="27146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532584" y="2971800"/>
            <a:ext cx="2203847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early-warning temporal network analytics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189684" y="3454003"/>
            <a:ext cx="254674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DETECTION QUALITY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3189684" y="3589734"/>
            <a:ext cx="20115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· Recall · F1 · PR-AUC · ROC-AUC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189684" y="3715420"/>
            <a:ext cx="254674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FORENSIC UTILITY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3189684" y="3851151"/>
            <a:ext cx="246258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detection rate · false-warning rate · top-k precision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189684" y="3976836"/>
            <a:ext cx="254674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EARLY-WARNING VALIDITY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3189684" y="4112568"/>
            <a:ext cx="145648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Detection-before-completion rate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915025" y="1432322"/>
            <a:ext cx="312181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PRIMARY METRIC: DETECTION LEAD TIME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915025" y="1650206"/>
            <a:ext cx="3121819" cy="15359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5915025" y="1650206"/>
            <a:ext cx="3121819" cy="28575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952543" y="1964531"/>
            <a:ext cx="21431" cy="142875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831099" y="2157413"/>
            <a:ext cx="1672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DAY 7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8530307" y="1964531"/>
            <a:ext cx="21431" cy="142875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408863" y="2157413"/>
            <a:ext cx="1672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DAY 10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6545517" y="1785938"/>
            <a:ext cx="6601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SYSTEM WARNING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8222400" y="1785938"/>
            <a:ext cx="7072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RING OBSERVABLE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6022181" y="2700338"/>
            <a:ext cx="29075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kern="0" spc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EARLIER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915025" y="3357563"/>
            <a:ext cx="312181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question:</a:t>
            </a:r>
            <a:r>
              <a:rPr lang="en-US" sz="8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much earlier can suspicious evolution be identified while controlling false warnings?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64344" y="4639866"/>
            <a:ext cx="8215313" cy="2536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64344" y="4639866"/>
            <a:ext cx="8215313" cy="14288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464344" y="4639866"/>
            <a:ext cx="8215313" cy="253603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CLASSIFY LESS · EXPLAIN MORE · WARN EARLIER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278606"/>
            <a:ext cx="83153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 / EXPECTED IMPACT · CLOSING SYNTHESIS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414338" y="482203"/>
            <a:ext cx="8315325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Outcomes, Conclusion &amp; References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14338" y="778669"/>
            <a:ext cx="83153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detecting suspicious transactions to recognising the evolving trajectory of a laundering ring early enough to support investigation.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14338" y="1150144"/>
            <a:ext cx="457339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EXPECTED OUTCOMES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14338" y="1321594"/>
            <a:ext cx="228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14375" y="1321594"/>
            <a:ext cx="427335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Time-evolving </a:t>
            </a: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transaction-network representation</a:t>
            </a: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4338" y="1528763"/>
            <a:ext cx="228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14375" y="1528763"/>
            <a:ext cx="427335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of suspicious </a:t>
            </a: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fund-flow patterns</a:t>
            </a: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4338" y="1735931"/>
            <a:ext cx="228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14375" y="1735931"/>
            <a:ext cx="427335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identification of </a:t>
            </a: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laundering rings</a:t>
            </a: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14338" y="1943100"/>
            <a:ext cx="228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14375" y="1943100"/>
            <a:ext cx="427335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</a:t>
            </a: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lead time</a:t>
            </a: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14338" y="2150269"/>
            <a:ext cx="228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714375" y="2150269"/>
            <a:ext cx="427335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</a:t>
            </a: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risk scoring</a:t>
            </a:r>
            <a:r>
              <a:rPr lang="en-US" sz="8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14338" y="2536031"/>
            <a:ext cx="457339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CONCLUSION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414338" y="2707481"/>
            <a:ext cx="4573395" cy="12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laundering is a dynamic and coordinated network problem.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14338" y="2866206"/>
            <a:ext cx="4573395" cy="12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research provides graph, group, temporal, and explainable AML capabilities.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14338" y="3024932"/>
            <a:ext cx="4573395" cy="12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research focuses on early identification of evolving laundering rings.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14338" y="3183657"/>
            <a:ext cx="4573395" cy="123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8400"/>
              </a:lnSpc>
              <a:buNone/>
            </a:pPr>
            <a:r>
              <a:rPr lang="en-US" sz="75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evaluated using detection quality and detection lead time.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44908" y="1150144"/>
            <a:ext cx="3741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MOCK INVESTIGATOR OUTPUT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5244908" y="1321594"/>
            <a:ext cx="3741874" cy="14644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44908" y="1321594"/>
            <a:ext cx="3741874" cy="35719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352064" y="1421606"/>
            <a:ext cx="352756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5223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EMERGING RING #27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352064" y="1607344"/>
            <a:ext cx="352756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6B6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RISK SCORE: 87 / 100 · HIGH — FORMATION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352064" y="1839516"/>
            <a:ext cx="352756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WHY FLAGGED?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5352064" y="1985963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transfers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137276" y="1985963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intermediary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52064" y="2132409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Layering behaviour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137276" y="2132409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circular flow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352064" y="2278856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connectivity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137276" y="2278856"/>
            <a:ext cx="174234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escalation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352064" y="2475309"/>
            <a:ext cx="35275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Network #27 for investigation.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244908" y="2843213"/>
            <a:ext cx="374187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5261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risk score indicates investigative priority; it does not establish criminal guilt.</a:t>
            </a:r>
            <a:endParaRPr lang="en-US" sz="500" dirty="0"/>
          </a:p>
        </p:txBody>
      </p:sp>
      <p:sp>
        <p:nvSpPr>
          <p:cNvPr id="36" name="Shape 33"/>
          <p:cNvSpPr/>
          <p:nvPr/>
        </p:nvSpPr>
        <p:spPr>
          <a:xfrm>
            <a:off x="414338" y="3449538"/>
            <a:ext cx="8315325" cy="446484"/>
          </a:xfrm>
          <a:prstGeom prst="rect">
            <a:avLst/>
          </a:prstGeom>
          <a:solidFill>
            <a:srgbClr val="F0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14338" y="3449538"/>
            <a:ext cx="8315325" cy="21431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14338" y="3449538"/>
            <a:ext cx="8315325" cy="446484"/>
          </a:xfrm>
          <a:prstGeom prst="rect">
            <a:avLst/>
          </a:prstGeom>
          <a:noFill/>
          <a:ln/>
        </p:spPr>
        <p:txBody>
          <a:bodyPr wrap="square" lIns="127508" tIns="93599" rIns="127508" bIns="93599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500" b="1" kern="0" spc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FINAL RESEARCH CONTRIBUTION</a:t>
            </a:r>
            <a:r>
              <a:rPr lang="en-US" sz="800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forensic early-warning framework for identifying evolving money-laundering rings and explaining the temporal/network evidence behind each warning.</a:t>
            </a:r>
            <a:endParaRPr lang="en-US" sz="500" dirty="0"/>
          </a:p>
        </p:txBody>
      </p:sp>
      <p:sp>
        <p:nvSpPr>
          <p:cNvPr id="39" name="Shape 36"/>
          <p:cNvSpPr/>
          <p:nvPr/>
        </p:nvSpPr>
        <p:spPr>
          <a:xfrm>
            <a:off x="414338" y="3953173"/>
            <a:ext cx="8315325" cy="4518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14338" y="3953173"/>
            <a:ext cx="8315325" cy="7144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14338" y="4017466"/>
            <a:ext cx="4068366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[1]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in Graphs of Bank Transactions for Anti Money Laundering Applications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IEEE Access, 2022.
</a:t>
            </a: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[2]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Hawala Network for Money Laundering by Graph Mining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Journal of Finance and Data Science, 2024.
</a:t>
            </a: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[3]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TMAS: A Transaction Misbehavior Analysis Scheme for Blockchain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Blockchain: Research and Applications, 2024.
</a:t>
            </a: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[4]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Networks-Based Anomaly Detection for Financial Transactions in Anti-Money Laundering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Forensic Science International: Digital Investigation, 2025.</a:t>
            </a:r>
            <a:endParaRPr lang="en-US" sz="400" dirty="0"/>
          </a:p>
        </p:txBody>
      </p:sp>
      <p:sp>
        <p:nvSpPr>
          <p:cNvPr id="42" name="Text 39"/>
          <p:cNvSpPr/>
          <p:nvPr/>
        </p:nvSpPr>
        <p:spPr>
          <a:xfrm>
            <a:off x="4661297" y="4017466"/>
            <a:ext cx="4068366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[5]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Graph-Based Hierarchical Representation Learning for Money Laundering Group Detection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IEEE TIFS, 2025.
</a:t>
            </a: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[6]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GraphNet-Launder: A Graph-Based Deep Intelligence Framework for Real-Time Money Laundering Detection in Financial Networks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IEEE, 2025.
</a:t>
            </a:r>
            <a:r>
              <a:rPr lang="en-US" sz="400" b="1" dirty="0">
                <a:solidFill>
                  <a:srgbClr val="6C63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[7]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" b="1" dirty="0">
                <a:solidFill>
                  <a:srgbClr val="15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Quantum-Enhanced AML: Hybrid Quantum–Classical Graph Learning With Entity Resolution and Evidence Subgraph Discovery for Transaction Screening</a:t>
            </a:r>
            <a:r>
              <a:rPr lang="en-US" sz="4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IEEE Access, 2026.</a:t>
            </a:r>
            <a:endParaRPr lang="en-US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2061</Words>
  <Application>Microsoft Office PowerPoint</Application>
  <PresentationFormat>On-screen Show (16:9)</PresentationFormat>
  <Paragraphs>361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Keerthana A R</cp:lastModifiedBy>
  <cp:revision>2</cp:revision>
  <dcterms:created xsi:type="dcterms:W3CDTF">2026-08-20T17:38:55Z</dcterms:created>
  <dcterms:modified xsi:type="dcterms:W3CDTF">2026-08-21T09:46:04Z</dcterms:modified>
</cp:coreProperties>
</file>